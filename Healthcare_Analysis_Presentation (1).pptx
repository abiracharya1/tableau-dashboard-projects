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0" d="100"/>
          <a:sy n="210" d="100"/>
        </p:scale>
        <p:origin x="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65A82"/>
                </a:solidFill>
                <a:latin typeface="Arial"/>
              </a:defRPr>
            </a:pPr>
            <a:r>
              <a:rPr lang="en-US" sz="1100" b="0" i="0" u="none" strike="noStrike">
                <a:solidFill>
                  <a:srgbClr val="065A82"/>
                </a:solidFill>
                <a:latin typeface="Arial"/>
              </a:rPr>
              <a:t>Top Research Areas: Annual Funding ($ millions)</a:t>
            </a:r>
          </a:p>
        </c:rich>
      </c:tx>
      <c:overlay val="0"/>
    </c:title>
    <c:autoTitleDeleted val="0"/>
    <c:plotArea>
      <c:layout/>
      <c:lineChart>
        <c:grouping val="standard"/>
        <c:varyColors val="0"/>
        <c:ser>
          <c:idx val="0"/>
          <c:order val="0"/>
          <c:tx>
            <c:strRef>
              <c:f>Sheet1!$B$1</c:f>
              <c:strCache>
                <c:ptCount val="1"/>
                <c:pt idx="0">
                  <c:v>Clinical Research</c:v>
                </c:pt>
              </c:strCache>
            </c:strRef>
          </c:tx>
          <c:spPr>
            <a:ln w="31750" cap="flat">
              <a:solidFill>
                <a:srgbClr val="02C39A"/>
              </a:solidFill>
              <a:prstDash val="solid"/>
              <a:round/>
            </a:ln>
            <a:effectLst/>
          </c:spPr>
          <c:marker>
            <c:symbol val="circle"/>
            <c:size val="6"/>
            <c:spPr>
              <a:solidFill>
                <a:srgbClr val="02C39A"/>
              </a:solidFill>
              <a:ln w="9525" cap="flat">
                <a:solidFill>
                  <a:srgbClr val="02C39A"/>
                </a:solidFill>
                <a:prstDash val="solid"/>
                <a:round/>
              </a:ln>
              <a:effectLst/>
            </c:spPr>
          </c:marker>
          <c:cat>
            <c:strRef>
              <c:f>Sheet1!$A$2:$A$15</c:f>
              <c:strCache>
                <c:ptCount val="14"/>
                <c:pt idx="0">
                  <c:v>2008</c:v>
                </c:pt>
                <c:pt idx="1">
                  <c:v>2009</c:v>
                </c:pt>
                <c:pt idx="2">
                  <c:v>2011</c:v>
                </c:pt>
                <c:pt idx="3">
                  <c:v>2012</c:v>
                </c:pt>
                <c:pt idx="4">
                  <c:v>2013</c:v>
                </c:pt>
                <c:pt idx="5">
                  <c:v>2014</c:v>
                </c:pt>
                <c:pt idx="6">
                  <c:v>2015</c:v>
                </c:pt>
                <c:pt idx="7">
                  <c:v>2016</c:v>
                </c:pt>
                <c:pt idx="8">
                  <c:v>2017</c:v>
                </c:pt>
                <c:pt idx="9">
                  <c:v>2018</c:v>
                </c:pt>
                <c:pt idx="10">
                  <c:v>2019</c:v>
                </c:pt>
                <c:pt idx="11">
                  <c:v>2020</c:v>
                </c:pt>
                <c:pt idx="12">
                  <c:v>2021</c:v>
                </c:pt>
                <c:pt idx="13">
                  <c:v>2022</c:v>
                </c:pt>
              </c:strCache>
            </c:strRef>
          </c:cat>
          <c:val>
            <c:numRef>
              <c:f>Sheet1!$B$2:$B$15</c:f>
              <c:numCache>
                <c:formatCode>General</c:formatCode>
                <c:ptCount val="14"/>
                <c:pt idx="0">
                  <c:v>9629</c:v>
                </c:pt>
                <c:pt idx="1">
                  <c:v>10336</c:v>
                </c:pt>
                <c:pt idx="2">
                  <c:v>10503</c:v>
                </c:pt>
                <c:pt idx="3">
                  <c:v>10951</c:v>
                </c:pt>
                <c:pt idx="4">
                  <c:v>10604</c:v>
                </c:pt>
                <c:pt idx="5">
                  <c:v>11087</c:v>
                </c:pt>
                <c:pt idx="6">
                  <c:v>11366</c:v>
                </c:pt>
                <c:pt idx="7">
                  <c:v>12176</c:v>
                </c:pt>
                <c:pt idx="8">
                  <c:v>12695</c:v>
                </c:pt>
                <c:pt idx="9">
                  <c:v>13870</c:v>
                </c:pt>
                <c:pt idx="10">
                  <c:v>15868</c:v>
                </c:pt>
                <c:pt idx="11">
                  <c:v>17610</c:v>
                </c:pt>
                <c:pt idx="12">
                  <c:v>17681</c:v>
                </c:pt>
                <c:pt idx="13">
                  <c:v>18002</c:v>
                </c:pt>
              </c:numCache>
            </c:numRef>
          </c:val>
          <c:smooth val="1"/>
          <c:extLst>
            <c:ext xmlns:c16="http://schemas.microsoft.com/office/drawing/2014/chart" uri="{C3380CC4-5D6E-409C-BE32-E72D297353CC}">
              <c16:uniqueId val="{00000000-1BF2-40AD-98D3-1696920957EC}"/>
            </c:ext>
          </c:extLst>
        </c:ser>
        <c:ser>
          <c:idx val="1"/>
          <c:order val="1"/>
          <c:tx>
            <c:strRef>
              <c:f>Sheet1!$C$1</c:f>
              <c:strCache>
                <c:ptCount val="1"/>
                <c:pt idx="0">
                  <c:v>Genetics</c:v>
                </c:pt>
              </c:strCache>
            </c:strRef>
          </c:tx>
          <c:spPr>
            <a:ln w="31750" cap="flat">
              <a:solidFill>
                <a:srgbClr val="F9A825"/>
              </a:solidFill>
              <a:prstDash val="solid"/>
              <a:round/>
            </a:ln>
            <a:effectLst/>
          </c:spPr>
          <c:marker>
            <c:symbol val="circle"/>
            <c:size val="6"/>
            <c:spPr>
              <a:solidFill>
                <a:srgbClr val="F9A825"/>
              </a:solidFill>
              <a:ln w="9525" cap="flat">
                <a:solidFill>
                  <a:srgbClr val="F9A825"/>
                </a:solidFill>
                <a:prstDash val="solid"/>
                <a:round/>
              </a:ln>
              <a:effectLst/>
            </c:spPr>
          </c:marker>
          <c:cat>
            <c:strRef>
              <c:f>Sheet1!$A$2:$A$15</c:f>
              <c:strCache>
                <c:ptCount val="14"/>
                <c:pt idx="0">
                  <c:v>2008</c:v>
                </c:pt>
                <c:pt idx="1">
                  <c:v>2009</c:v>
                </c:pt>
                <c:pt idx="2">
                  <c:v>2011</c:v>
                </c:pt>
                <c:pt idx="3">
                  <c:v>2012</c:v>
                </c:pt>
                <c:pt idx="4">
                  <c:v>2013</c:v>
                </c:pt>
                <c:pt idx="5">
                  <c:v>2014</c:v>
                </c:pt>
                <c:pt idx="6">
                  <c:v>2015</c:v>
                </c:pt>
                <c:pt idx="7">
                  <c:v>2016</c:v>
                </c:pt>
                <c:pt idx="8">
                  <c:v>2017</c:v>
                </c:pt>
                <c:pt idx="9">
                  <c:v>2018</c:v>
                </c:pt>
                <c:pt idx="10">
                  <c:v>2019</c:v>
                </c:pt>
                <c:pt idx="11">
                  <c:v>2020</c:v>
                </c:pt>
                <c:pt idx="12">
                  <c:v>2021</c:v>
                </c:pt>
                <c:pt idx="13">
                  <c:v>2022</c:v>
                </c:pt>
              </c:strCache>
            </c:strRef>
          </c:cat>
          <c:val>
            <c:numRef>
              <c:f>Sheet1!$C$2:$C$15</c:f>
              <c:numCache>
                <c:formatCode>General</c:formatCode>
                <c:ptCount val="14"/>
                <c:pt idx="0">
                  <c:v>6872</c:v>
                </c:pt>
                <c:pt idx="1">
                  <c:v>7278</c:v>
                </c:pt>
                <c:pt idx="2">
                  <c:v>7223</c:v>
                </c:pt>
                <c:pt idx="3">
                  <c:v>7632</c:v>
                </c:pt>
                <c:pt idx="4">
                  <c:v>7144</c:v>
                </c:pt>
                <c:pt idx="5">
                  <c:v>7324</c:v>
                </c:pt>
                <c:pt idx="6">
                  <c:v>7480</c:v>
                </c:pt>
                <c:pt idx="7">
                  <c:v>8070</c:v>
                </c:pt>
                <c:pt idx="8">
                  <c:v>8501</c:v>
                </c:pt>
                <c:pt idx="9">
                  <c:v>9105</c:v>
                </c:pt>
                <c:pt idx="10">
                  <c:v>9864</c:v>
                </c:pt>
                <c:pt idx="11">
                  <c:v>10544</c:v>
                </c:pt>
                <c:pt idx="12">
                  <c:v>11010</c:v>
                </c:pt>
                <c:pt idx="13">
                  <c:v>11615</c:v>
                </c:pt>
              </c:numCache>
            </c:numRef>
          </c:val>
          <c:smooth val="1"/>
          <c:extLst>
            <c:ext xmlns:c16="http://schemas.microsoft.com/office/drawing/2014/chart" uri="{C3380CC4-5D6E-409C-BE32-E72D297353CC}">
              <c16:uniqueId val="{00000001-1BF2-40AD-98D3-1696920957EC}"/>
            </c:ext>
          </c:extLst>
        </c:ser>
        <c:ser>
          <c:idx val="2"/>
          <c:order val="2"/>
          <c:tx>
            <c:strRef>
              <c:f>Sheet1!$D$1</c:f>
              <c:strCache>
                <c:ptCount val="1"/>
                <c:pt idx="0">
                  <c:v>Prevention</c:v>
                </c:pt>
              </c:strCache>
            </c:strRef>
          </c:tx>
          <c:spPr>
            <a:ln w="31750" cap="flat">
              <a:solidFill>
                <a:srgbClr val="E53E3E"/>
              </a:solidFill>
              <a:prstDash val="solid"/>
              <a:round/>
            </a:ln>
            <a:effectLst/>
          </c:spPr>
          <c:marker>
            <c:symbol val="circle"/>
            <c:size val="6"/>
            <c:spPr>
              <a:solidFill>
                <a:srgbClr val="E53E3E"/>
              </a:solidFill>
              <a:ln w="9525" cap="flat">
                <a:solidFill>
                  <a:srgbClr val="E53E3E"/>
                </a:solidFill>
                <a:prstDash val="solid"/>
                <a:round/>
              </a:ln>
              <a:effectLst/>
            </c:spPr>
          </c:marker>
          <c:cat>
            <c:strRef>
              <c:f>Sheet1!$A$2:$A$15</c:f>
              <c:strCache>
                <c:ptCount val="14"/>
                <c:pt idx="0">
                  <c:v>2008</c:v>
                </c:pt>
                <c:pt idx="1">
                  <c:v>2009</c:v>
                </c:pt>
                <c:pt idx="2">
                  <c:v>2011</c:v>
                </c:pt>
                <c:pt idx="3">
                  <c:v>2012</c:v>
                </c:pt>
                <c:pt idx="4">
                  <c:v>2013</c:v>
                </c:pt>
                <c:pt idx="5">
                  <c:v>2014</c:v>
                </c:pt>
                <c:pt idx="6">
                  <c:v>2015</c:v>
                </c:pt>
                <c:pt idx="7">
                  <c:v>2016</c:v>
                </c:pt>
                <c:pt idx="8">
                  <c:v>2017</c:v>
                </c:pt>
                <c:pt idx="9">
                  <c:v>2018</c:v>
                </c:pt>
                <c:pt idx="10">
                  <c:v>2019</c:v>
                </c:pt>
                <c:pt idx="11">
                  <c:v>2020</c:v>
                </c:pt>
                <c:pt idx="12">
                  <c:v>2021</c:v>
                </c:pt>
                <c:pt idx="13">
                  <c:v>2022</c:v>
                </c:pt>
              </c:strCache>
            </c:strRef>
          </c:cat>
          <c:val>
            <c:numRef>
              <c:f>Sheet1!$D$2:$D$15</c:f>
              <c:numCache>
                <c:formatCode>General</c:formatCode>
                <c:ptCount val="14"/>
                <c:pt idx="0">
                  <c:v>4623</c:v>
                </c:pt>
                <c:pt idx="1">
                  <c:v>5332</c:v>
                </c:pt>
                <c:pt idx="2">
                  <c:v>5929</c:v>
                </c:pt>
                <c:pt idx="3">
                  <c:v>5924</c:v>
                </c:pt>
                <c:pt idx="4">
                  <c:v>6686</c:v>
                </c:pt>
                <c:pt idx="5">
                  <c:v>6858</c:v>
                </c:pt>
                <c:pt idx="6">
                  <c:v>7027</c:v>
                </c:pt>
                <c:pt idx="7">
                  <c:v>7566</c:v>
                </c:pt>
                <c:pt idx="8">
                  <c:v>8052</c:v>
                </c:pt>
                <c:pt idx="9">
                  <c:v>8757</c:v>
                </c:pt>
                <c:pt idx="10">
                  <c:v>9485</c:v>
                </c:pt>
                <c:pt idx="11">
                  <c:v>10482</c:v>
                </c:pt>
                <c:pt idx="12">
                  <c:v>10553</c:v>
                </c:pt>
                <c:pt idx="13">
                  <c:v>10952</c:v>
                </c:pt>
              </c:numCache>
            </c:numRef>
          </c:val>
          <c:smooth val="1"/>
          <c:extLst>
            <c:ext xmlns:c16="http://schemas.microsoft.com/office/drawing/2014/chart" uri="{C3380CC4-5D6E-409C-BE32-E72D297353CC}">
              <c16:uniqueId val="{00000002-1BF2-40AD-98D3-1696920957E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LID4096"/>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BF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LID4096"/>
          </a:p>
        </c:txPr>
        <c:crossAx val="2094734554"/>
        <c:crosses val="autoZero"/>
        <c:crossBetween val="between"/>
      </c:valAx>
      <c:spPr>
        <a:noFill/>
        <a:ln>
          <a:noFill/>
        </a:ln>
        <a:effectLst/>
      </c:spPr>
    </c:plotArea>
    <c:legend>
      <c:legendPos val="b"/>
      <c:overlay val="0"/>
      <c:txPr>
        <a:bodyPr/>
        <a:lstStyle/>
        <a:p>
          <a:pPr>
            <a:defRPr sz="900"/>
          </a:pPr>
          <a:endParaRPr lang="LID4096"/>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65A82"/>
                </a:solidFill>
                <a:latin typeface="Arial"/>
              </a:defRPr>
            </a:pPr>
            <a:r>
              <a:rPr lang="en-US" sz="1000" b="0" i="0" u="none" strike="noStrike">
                <a:solidFill>
                  <a:srgbClr val="065A82"/>
                </a:solidFill>
                <a:latin typeface="Arial"/>
              </a:rPr>
              <a:t>Top 10 Research Areas by 2019 Funding ($ millions)</a:t>
            </a:r>
          </a:p>
        </c:rich>
      </c:tx>
      <c:overlay val="0"/>
    </c:title>
    <c:autoTitleDeleted val="0"/>
    <c:plotArea>
      <c:layout/>
      <c:barChart>
        <c:barDir val="bar"/>
        <c:grouping val="clustered"/>
        <c:varyColors val="0"/>
        <c:ser>
          <c:idx val="0"/>
          <c:order val="0"/>
          <c:tx>
            <c:strRef>
              <c:f>Sheet1!$B$1</c:f>
              <c:strCache>
                <c:ptCount val="1"/>
                <c:pt idx="0">
                  <c:v>2019 Funding ($M)</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6834-45B2-8E2A-7C9DC78183F3}"/>
              </c:ext>
            </c:extLst>
          </c:dPt>
          <c:dPt>
            <c:idx val="1"/>
            <c:invertIfNegative val="0"/>
            <c:bubble3D val="0"/>
            <c:extLst>
              <c:ext xmlns:c16="http://schemas.microsoft.com/office/drawing/2014/chart" uri="{C3380CC4-5D6E-409C-BE32-E72D297353CC}">
                <c16:uniqueId val="{00000003-6834-45B2-8E2A-7C9DC78183F3}"/>
              </c:ext>
            </c:extLst>
          </c:dPt>
          <c:dPt>
            <c:idx val="2"/>
            <c:invertIfNegative val="0"/>
            <c:bubble3D val="0"/>
            <c:extLst>
              <c:ext xmlns:c16="http://schemas.microsoft.com/office/drawing/2014/chart" uri="{C3380CC4-5D6E-409C-BE32-E72D297353CC}">
                <c16:uniqueId val="{00000005-6834-45B2-8E2A-7C9DC78183F3}"/>
              </c:ext>
            </c:extLst>
          </c:dPt>
          <c:dPt>
            <c:idx val="3"/>
            <c:invertIfNegative val="0"/>
            <c:bubble3D val="0"/>
            <c:extLst>
              <c:ext xmlns:c16="http://schemas.microsoft.com/office/drawing/2014/chart" uri="{C3380CC4-5D6E-409C-BE32-E72D297353CC}">
                <c16:uniqueId val="{00000007-6834-45B2-8E2A-7C9DC78183F3}"/>
              </c:ext>
            </c:extLst>
          </c:dPt>
          <c:dPt>
            <c:idx val="4"/>
            <c:invertIfNegative val="0"/>
            <c:bubble3D val="0"/>
            <c:extLst>
              <c:ext xmlns:c16="http://schemas.microsoft.com/office/drawing/2014/chart" uri="{C3380CC4-5D6E-409C-BE32-E72D297353CC}">
                <c16:uniqueId val="{00000009-6834-45B2-8E2A-7C9DC78183F3}"/>
              </c:ext>
            </c:extLst>
          </c:dPt>
          <c:dPt>
            <c:idx val="5"/>
            <c:invertIfNegative val="0"/>
            <c:bubble3D val="0"/>
            <c:extLst>
              <c:ext xmlns:c16="http://schemas.microsoft.com/office/drawing/2014/chart" uri="{C3380CC4-5D6E-409C-BE32-E72D297353CC}">
                <c16:uniqueId val="{0000000B-6834-45B2-8E2A-7C9DC78183F3}"/>
              </c:ext>
            </c:extLst>
          </c:dPt>
          <c:dPt>
            <c:idx val="6"/>
            <c:invertIfNegative val="0"/>
            <c:bubble3D val="0"/>
            <c:spPr>
              <a:solidFill>
                <a:srgbClr val="02C39A"/>
              </a:solidFill>
              <a:effectLst/>
            </c:spPr>
            <c:extLst>
              <c:ext xmlns:c16="http://schemas.microsoft.com/office/drawing/2014/chart" uri="{C3380CC4-5D6E-409C-BE32-E72D297353CC}">
                <c16:uniqueId val="{0000000D-6834-45B2-8E2A-7C9DC78183F3}"/>
              </c:ext>
            </c:extLst>
          </c:dPt>
          <c:dPt>
            <c:idx val="7"/>
            <c:invertIfNegative val="0"/>
            <c:bubble3D val="0"/>
            <c:spPr>
              <a:solidFill>
                <a:srgbClr val="02C39A"/>
              </a:solidFill>
              <a:effectLst/>
            </c:spPr>
            <c:extLst>
              <c:ext xmlns:c16="http://schemas.microsoft.com/office/drawing/2014/chart" uri="{C3380CC4-5D6E-409C-BE32-E72D297353CC}">
                <c16:uniqueId val="{0000000F-6834-45B2-8E2A-7C9DC78183F3}"/>
              </c:ext>
            </c:extLst>
          </c:dPt>
          <c:dPt>
            <c:idx val="8"/>
            <c:invertIfNegative val="0"/>
            <c:bubble3D val="0"/>
            <c:extLst>
              <c:ext xmlns:c16="http://schemas.microsoft.com/office/drawing/2014/chart" uri="{C3380CC4-5D6E-409C-BE32-E72D297353CC}">
                <c16:uniqueId val="{00000011-6834-45B2-8E2A-7C9DC78183F3}"/>
              </c:ext>
            </c:extLst>
          </c:dPt>
          <c:dPt>
            <c:idx val="9"/>
            <c:invertIfNegative val="0"/>
            <c:bubble3D val="0"/>
            <c:extLst>
              <c:ext xmlns:c16="http://schemas.microsoft.com/office/drawing/2014/chart" uri="{C3380CC4-5D6E-409C-BE32-E72D297353CC}">
                <c16:uniqueId val="{00000013-6834-45B2-8E2A-7C9DC78183F3}"/>
              </c:ext>
            </c:extLst>
          </c:dPt>
          <c:dLbls>
            <c:numFmt formatCode="#,##0" sourceLinked="0"/>
            <c:spPr>
              <a:noFill/>
              <a:ln>
                <a:noFill/>
              </a:ln>
              <a:effectLst/>
            </c:spPr>
            <c:txPr>
              <a:bodyPr/>
              <a:lstStyle/>
              <a:p>
                <a:pPr>
                  <a:defRPr sz="800" b="0" i="0" u="none" strike="noStrike">
                    <a:solidFill>
                      <a:srgbClr val="065A82"/>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Clinical Research</c:v>
                </c:pt>
                <c:pt idx="1">
                  <c:v>Genetics</c:v>
                </c:pt>
                <c:pt idx="2">
                  <c:v>Prevention</c:v>
                </c:pt>
                <c:pt idx="3">
                  <c:v>Neurosciences</c:v>
                </c:pt>
                <c:pt idx="4">
                  <c:v>Biotechnology</c:v>
                </c:pt>
                <c:pt idx="5">
                  <c:v>Brain Disorders</c:v>
                </c:pt>
                <c:pt idx="6">
                  <c:v>Cancer</c:v>
                </c:pt>
                <c:pt idx="7">
                  <c:v>Behavioral &amp; Social Sci.</c:v>
                </c:pt>
                <c:pt idx="8">
                  <c:v>Infectious Diseases</c:v>
                </c:pt>
                <c:pt idx="9">
                  <c:v>Clinical Trials</c:v>
                </c:pt>
              </c:strCache>
            </c:strRef>
          </c:cat>
          <c:val>
            <c:numRef>
              <c:f>Sheet1!$B$2:$B$11</c:f>
              <c:numCache>
                <c:formatCode>General</c:formatCode>
                <c:ptCount val="10"/>
                <c:pt idx="0">
                  <c:v>15868</c:v>
                </c:pt>
                <c:pt idx="1">
                  <c:v>9864</c:v>
                </c:pt>
                <c:pt idx="2">
                  <c:v>9485</c:v>
                </c:pt>
                <c:pt idx="3">
                  <c:v>9468</c:v>
                </c:pt>
                <c:pt idx="4">
                  <c:v>7219</c:v>
                </c:pt>
                <c:pt idx="5">
                  <c:v>6954</c:v>
                </c:pt>
                <c:pt idx="6">
                  <c:v>6520</c:v>
                </c:pt>
                <c:pt idx="7">
                  <c:v>6499</c:v>
                </c:pt>
                <c:pt idx="8">
                  <c:v>6313</c:v>
                </c:pt>
                <c:pt idx="9">
                  <c:v>6058</c:v>
                </c:pt>
              </c:numCache>
            </c:numRef>
          </c:val>
          <c:extLst>
            <c:ext xmlns:c16="http://schemas.microsoft.com/office/drawing/2014/chart" uri="{C3380CC4-5D6E-409C-BE32-E72D297353CC}">
              <c16:uniqueId val="{00000014-6834-45B2-8E2A-7C9DC78183F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LID4096"/>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BF3"/>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LID4096"/>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00" b="0" i="0" u="none" strike="noStrike">
                <a:solidFill>
                  <a:srgbClr val="065A82"/>
                </a:solidFill>
                <a:latin typeface="Arial"/>
              </a:defRPr>
            </a:pPr>
            <a:r>
              <a:rPr lang="en-US" sz="900" b="0" i="0" u="none" strike="noStrike">
                <a:solidFill>
                  <a:srgbClr val="065A82"/>
                </a:solidFill>
                <a:latin typeface="Arial"/>
              </a:rPr>
              <a:t>Funding ($M, X-axis) vs. Mortality in thousands (Y-axis) — 2019</a:t>
            </a:r>
          </a:p>
        </c:rich>
      </c:tx>
      <c:overlay val="0"/>
    </c:title>
    <c:autoTitleDeleted val="0"/>
    <c:plotArea>
      <c:layout/>
      <c:scatterChart>
        <c:scatterStyle val="lineMarker"/>
        <c:varyColors val="0"/>
        <c:ser>
          <c:idx val="0"/>
          <c:order val="0"/>
          <c:tx>
            <c:strRef>
              <c:f>Sheet1!$B$1</c:f>
              <c:strCache>
                <c:ptCount val="1"/>
                <c:pt idx="0">
                  <c:v>Cancer</c:v>
                </c:pt>
              </c:strCache>
            </c:strRef>
          </c:tx>
          <c:spPr>
            <a:ln>
              <a:noFill/>
            </a:ln>
            <a:effectLst/>
          </c:spPr>
          <c:marker>
            <c:symbol val="circle"/>
            <c:size val="6"/>
            <c:spPr>
              <a:solidFill>
                <a:srgbClr val="E53E3E"/>
              </a:solidFill>
              <a:ln w="9525" cap="flat">
                <a:solidFill>
                  <a:srgbClr val="E53E3E"/>
                </a:solidFill>
                <a:prstDash val="solid"/>
                <a:round/>
              </a:ln>
              <a:effectLst/>
            </c:spPr>
          </c:marker>
          <c:xVal>
            <c:numRef>
              <c:f>Sheet1!$A$2:$A$2</c:f>
              <c:numCache>
                <c:formatCode>General</c:formatCode>
                <c:ptCount val="1"/>
                <c:pt idx="0">
                  <c:v>1592</c:v>
                </c:pt>
              </c:numCache>
            </c:numRef>
          </c:xVal>
          <c:yVal>
            <c:numRef>
              <c:f>Sheet1!$B$2:$B$2</c:f>
              <c:numCache>
                <c:formatCode>General</c:formatCode>
                <c:ptCount val="1"/>
                <c:pt idx="0">
                  <c:v>691</c:v>
                </c:pt>
              </c:numCache>
            </c:numRef>
          </c:yVal>
          <c:smooth val="0"/>
          <c:extLst>
            <c:ext xmlns:c16="http://schemas.microsoft.com/office/drawing/2014/chart" uri="{C3380CC4-5D6E-409C-BE32-E72D297353CC}">
              <c16:uniqueId val="{00000000-B842-4B4B-9473-3BA67CF6A575}"/>
            </c:ext>
          </c:extLst>
        </c:ser>
        <c:ser>
          <c:idx val="1"/>
          <c:order val="1"/>
          <c:tx>
            <c:strRef>
              <c:f>Sheet1!$C$1</c:f>
              <c:strCache>
                <c:ptCount val="1"/>
                <c:pt idx="0">
                  <c:v>Hypertension</c:v>
                </c:pt>
              </c:strCache>
            </c:strRef>
          </c:tx>
          <c:spPr>
            <a:ln>
              <a:noFill/>
            </a:ln>
            <a:effectLst/>
          </c:spPr>
          <c:marker>
            <c:symbol val="circle"/>
            <c:size val="6"/>
            <c:spPr>
              <a:solidFill>
                <a:srgbClr val="1C7293"/>
              </a:solidFill>
              <a:ln w="9525" cap="flat">
                <a:solidFill>
                  <a:srgbClr val="1C7293"/>
                </a:solidFill>
                <a:prstDash val="solid"/>
                <a:round/>
              </a:ln>
              <a:effectLst/>
            </c:spPr>
          </c:marker>
          <c:xVal>
            <c:numRef>
              <c:f>Sheet1!$A$2:$A$2</c:f>
              <c:numCache>
                <c:formatCode>General</c:formatCode>
                <c:ptCount val="1"/>
                <c:pt idx="0">
                  <c:v>1592</c:v>
                </c:pt>
              </c:numCache>
            </c:numRef>
          </c:xVal>
          <c:yVal>
            <c:numRef>
              <c:f>Sheet1!$C$2:$C$2</c:f>
              <c:numCache>
                <c:formatCode>General</c:formatCode>
                <c:ptCount val="1"/>
                <c:pt idx="0">
                  <c:v>517</c:v>
                </c:pt>
              </c:numCache>
            </c:numRef>
          </c:yVal>
          <c:smooth val="0"/>
          <c:extLst>
            <c:ext xmlns:c16="http://schemas.microsoft.com/office/drawing/2014/chart" uri="{C3380CC4-5D6E-409C-BE32-E72D297353CC}">
              <c16:uniqueId val="{00000001-B842-4B4B-9473-3BA67CF6A575}"/>
            </c:ext>
          </c:extLst>
        </c:ser>
        <c:ser>
          <c:idx val="2"/>
          <c:order val="2"/>
          <c:tx>
            <c:strRef>
              <c:f>Sheet1!$D$1</c:f>
              <c:strCache>
                <c:ptCount val="1"/>
                <c:pt idx="0">
                  <c:v>COPD</c:v>
                </c:pt>
              </c:strCache>
            </c:strRef>
          </c:tx>
          <c:spPr>
            <a:ln>
              <a:noFill/>
            </a:ln>
            <a:effectLst/>
          </c:spPr>
          <c:marker>
            <c:symbol val="circle"/>
            <c:size val="6"/>
            <c:spPr>
              <a:solidFill>
                <a:srgbClr val="9B59B6"/>
              </a:solidFill>
              <a:ln w="9525" cap="flat">
                <a:solidFill>
                  <a:srgbClr val="9B59B6"/>
                </a:solidFill>
                <a:prstDash val="solid"/>
                <a:round/>
              </a:ln>
              <a:effectLst/>
            </c:spPr>
          </c:marker>
          <c:xVal>
            <c:numRef>
              <c:f>Sheet1!$A$2:$A$2</c:f>
              <c:numCache>
                <c:formatCode>General</c:formatCode>
                <c:ptCount val="1"/>
                <c:pt idx="0">
                  <c:v>1592</c:v>
                </c:pt>
              </c:numCache>
            </c:numRef>
          </c:xVal>
          <c:yVal>
            <c:numRef>
              <c:f>Sheet1!$D$2:$D$2</c:f>
              <c:numCache>
                <c:formatCode>General</c:formatCode>
                <c:ptCount val="1"/>
                <c:pt idx="0">
                  <c:v>313</c:v>
                </c:pt>
              </c:numCache>
            </c:numRef>
          </c:yVal>
          <c:smooth val="0"/>
          <c:extLst>
            <c:ext xmlns:c16="http://schemas.microsoft.com/office/drawing/2014/chart" uri="{C3380CC4-5D6E-409C-BE32-E72D297353CC}">
              <c16:uniqueId val="{00000002-B842-4B4B-9473-3BA67CF6A575}"/>
            </c:ext>
          </c:extLst>
        </c:ser>
        <c:ser>
          <c:idx val="3"/>
          <c:order val="3"/>
          <c:tx>
            <c:strRef>
              <c:f>Sheet1!$E$1</c:f>
              <c:strCache>
                <c:ptCount val="1"/>
                <c:pt idx="0">
                  <c:v>Diabetes</c:v>
                </c:pt>
              </c:strCache>
            </c:strRef>
          </c:tx>
          <c:spPr>
            <a:ln>
              <a:noFill/>
            </a:ln>
            <a:effectLst/>
          </c:spPr>
          <c:marker>
            <c:symbol val="circle"/>
            <c:size val="6"/>
            <c:spPr>
              <a:solidFill>
                <a:srgbClr val="065A82"/>
              </a:solidFill>
              <a:ln w="9525" cap="flat">
                <a:solidFill>
                  <a:srgbClr val="065A82"/>
                </a:solidFill>
                <a:prstDash val="solid"/>
                <a:round/>
              </a:ln>
              <a:effectLst/>
            </c:spPr>
          </c:marker>
          <c:xVal>
            <c:numRef>
              <c:f>Sheet1!$A$2:$A$2</c:f>
              <c:numCache>
                <c:formatCode>General</c:formatCode>
                <c:ptCount val="1"/>
                <c:pt idx="0">
                  <c:v>1592</c:v>
                </c:pt>
              </c:numCache>
            </c:numRef>
          </c:xVal>
          <c:yVal>
            <c:numRef>
              <c:f>Sheet1!$E$2:$E$2</c:f>
              <c:numCache>
                <c:formatCode>General</c:formatCode>
                <c:ptCount val="1"/>
                <c:pt idx="0">
                  <c:v>283</c:v>
                </c:pt>
              </c:numCache>
            </c:numRef>
          </c:yVal>
          <c:smooth val="0"/>
          <c:extLst>
            <c:ext xmlns:c16="http://schemas.microsoft.com/office/drawing/2014/chart" uri="{C3380CC4-5D6E-409C-BE32-E72D297353CC}">
              <c16:uniqueId val="{00000003-B842-4B4B-9473-3BA67CF6A575}"/>
            </c:ext>
          </c:extLst>
        </c:ser>
        <c:ser>
          <c:idx val="4"/>
          <c:order val="4"/>
          <c:tx>
            <c:strRef>
              <c:f>Sheet1!$F$1</c:f>
              <c:strCache>
                <c:ptCount val="1"/>
                <c:pt idx="0">
                  <c:v>Stroke</c:v>
                </c:pt>
              </c:strCache>
            </c:strRef>
          </c:tx>
          <c:spPr>
            <a:ln>
              <a:noFill/>
            </a:ln>
            <a:effectLst/>
          </c:spPr>
          <c:marker>
            <c:symbol val="circle"/>
            <c:size val="6"/>
            <c:spPr>
              <a:solidFill>
                <a:srgbClr val="F9A825"/>
              </a:solidFill>
              <a:ln w="9525" cap="flat">
                <a:solidFill>
                  <a:srgbClr val="F9A825"/>
                </a:solidFill>
                <a:prstDash val="solid"/>
                <a:round/>
              </a:ln>
              <a:effectLst/>
            </c:spPr>
          </c:marker>
          <c:xVal>
            <c:numRef>
              <c:f>Sheet1!$A$2:$A$2</c:f>
              <c:numCache>
                <c:formatCode>General</c:formatCode>
                <c:ptCount val="1"/>
                <c:pt idx="0">
                  <c:v>1592</c:v>
                </c:pt>
              </c:numCache>
            </c:numRef>
          </c:xVal>
          <c:yVal>
            <c:numRef>
              <c:f>Sheet1!$F$2:$F$2</c:f>
              <c:numCache>
                <c:formatCode>General</c:formatCode>
                <c:ptCount val="1"/>
                <c:pt idx="0">
                  <c:v>214</c:v>
                </c:pt>
              </c:numCache>
            </c:numRef>
          </c:yVal>
          <c:smooth val="0"/>
          <c:extLst>
            <c:ext xmlns:c16="http://schemas.microsoft.com/office/drawing/2014/chart" uri="{C3380CC4-5D6E-409C-BE32-E72D297353CC}">
              <c16:uniqueId val="{00000004-B842-4B4B-9473-3BA67CF6A575}"/>
            </c:ext>
          </c:extLst>
        </c:ser>
        <c:ser>
          <c:idx val="5"/>
          <c:order val="5"/>
          <c:tx>
            <c:strRef>
              <c:f>Sheet1!$G$1</c:f>
              <c:strCache>
                <c:ptCount val="1"/>
                <c:pt idx="0">
                  <c:v>Alzheimer's</c:v>
                </c:pt>
              </c:strCache>
            </c:strRef>
          </c:tx>
          <c:spPr>
            <a:ln>
              <a:noFill/>
            </a:ln>
            <a:effectLst/>
          </c:spPr>
          <c:marker>
            <c:symbol val="circle"/>
            <c:size val="6"/>
            <c:spPr>
              <a:solidFill>
                <a:srgbClr val="E67E22"/>
              </a:solidFill>
              <a:ln w="9525" cap="flat">
                <a:solidFill>
                  <a:srgbClr val="E67E22"/>
                </a:solidFill>
                <a:prstDash val="solid"/>
                <a:round/>
              </a:ln>
              <a:effectLst/>
            </c:spPr>
          </c:marker>
          <c:xVal>
            <c:numRef>
              <c:f>Sheet1!$A$2:$A$2</c:f>
              <c:numCache>
                <c:formatCode>General</c:formatCode>
                <c:ptCount val="1"/>
                <c:pt idx="0">
                  <c:v>1592</c:v>
                </c:pt>
              </c:numCache>
            </c:numRef>
          </c:xVal>
          <c:yVal>
            <c:numRef>
              <c:f>Sheet1!$G$2:$G$2</c:f>
              <c:numCache>
                <c:formatCode>General</c:formatCode>
                <c:ptCount val="1"/>
                <c:pt idx="0">
                  <c:v>147</c:v>
                </c:pt>
              </c:numCache>
            </c:numRef>
          </c:yVal>
          <c:smooth val="0"/>
          <c:extLst>
            <c:ext xmlns:c16="http://schemas.microsoft.com/office/drawing/2014/chart" uri="{C3380CC4-5D6E-409C-BE32-E72D297353CC}">
              <c16:uniqueId val="{00000005-B842-4B4B-9473-3BA67CF6A575}"/>
            </c:ext>
          </c:extLst>
        </c:ser>
        <c:ser>
          <c:idx val="6"/>
          <c:order val="6"/>
          <c:tx>
            <c:strRef>
              <c:f>Sheet1!$H$1</c:f>
              <c:strCache>
                <c:ptCount val="1"/>
                <c:pt idx="0">
                  <c:v>HIV/AIDS</c:v>
                </c:pt>
              </c:strCache>
            </c:strRef>
          </c:tx>
          <c:spPr>
            <a:ln>
              <a:noFill/>
            </a:ln>
            <a:effectLst/>
          </c:spPr>
          <c:marker>
            <c:symbol val="circle"/>
            <c:size val="6"/>
            <c:spPr>
              <a:solidFill>
                <a:srgbClr val="02C39A"/>
              </a:solidFill>
              <a:ln w="9525" cap="flat">
                <a:solidFill>
                  <a:srgbClr val="02C39A"/>
                </a:solidFill>
                <a:prstDash val="solid"/>
                <a:round/>
              </a:ln>
              <a:effectLst/>
            </c:spPr>
          </c:marker>
          <c:xVal>
            <c:numRef>
              <c:f>Sheet1!$A$2:$A$2</c:f>
              <c:numCache>
                <c:formatCode>General</c:formatCode>
                <c:ptCount val="1"/>
                <c:pt idx="0">
                  <c:v>1592</c:v>
                </c:pt>
              </c:numCache>
            </c:numRef>
          </c:xVal>
          <c:yVal>
            <c:numRef>
              <c:f>Sheet1!$H$2:$H$2</c:f>
              <c:numCache>
                <c:formatCode>General</c:formatCode>
                <c:ptCount val="1"/>
                <c:pt idx="0">
                  <c:v>7</c:v>
                </c:pt>
              </c:numCache>
            </c:numRef>
          </c:yVal>
          <c:smooth val="0"/>
          <c:extLst>
            <c:ext xmlns:c16="http://schemas.microsoft.com/office/drawing/2014/chart" uri="{C3380CC4-5D6E-409C-BE32-E72D297353CC}">
              <c16:uniqueId val="{00000006-B842-4B4B-9473-3BA67CF6A575}"/>
            </c:ext>
          </c:extLst>
        </c:ser>
        <c:ser>
          <c:idx val="7"/>
          <c:order val="7"/>
          <c:tx>
            <c:strRef>
              <c:f>Sheet1!$I$1</c:f>
              <c:strCache>
                <c:ptCount val="1"/>
                <c:pt idx="0">
                  <c:v>Breast Cancer</c:v>
                </c:pt>
              </c:strCache>
            </c:strRef>
          </c:tx>
          <c:spPr>
            <a:ln>
              <a:noFill/>
            </a:ln>
            <a:effectLst/>
          </c:spPr>
          <c:marker>
            <c:symbol val="circle"/>
            <c:size val="6"/>
            <c:spPr>
              <a:solidFill>
                <a:srgbClr val="E91E63"/>
              </a:solidFill>
              <a:ln w="9525" cap="flat">
                <a:solidFill>
                  <a:srgbClr val="E91E63"/>
                </a:solidFill>
                <a:prstDash val="solid"/>
                <a:round/>
              </a:ln>
              <a:effectLst/>
            </c:spPr>
          </c:marker>
          <c:xVal>
            <c:numRef>
              <c:f>Sheet1!$A$2:$A$2</c:f>
              <c:numCache>
                <c:formatCode>General</c:formatCode>
                <c:ptCount val="1"/>
                <c:pt idx="0">
                  <c:v>1592</c:v>
                </c:pt>
              </c:numCache>
            </c:numRef>
          </c:xVal>
          <c:yVal>
            <c:numRef>
              <c:f>Sheet1!$I$2:$I$2</c:f>
              <c:numCache>
                <c:formatCode>General</c:formatCode>
                <c:ptCount val="1"/>
                <c:pt idx="0">
                  <c:v>53</c:v>
                </c:pt>
              </c:numCache>
            </c:numRef>
          </c:yVal>
          <c:smooth val="0"/>
          <c:extLst>
            <c:ext xmlns:c16="http://schemas.microsoft.com/office/drawing/2014/chart" uri="{C3380CC4-5D6E-409C-BE32-E72D297353CC}">
              <c16:uniqueId val="{00000007-B842-4B4B-9473-3BA67CF6A575}"/>
            </c:ext>
          </c:extLst>
        </c:ser>
        <c:ser>
          <c:idx val="8"/>
          <c:order val="8"/>
          <c:tx>
            <c:strRef>
              <c:f>Sheet1!$J$1</c:f>
              <c:strCache>
                <c:ptCount val="1"/>
                <c:pt idx="0">
                  <c:v>Opioid/Addiction</c:v>
                </c:pt>
              </c:strCache>
            </c:strRef>
          </c:tx>
          <c:spPr>
            <a:ln>
              <a:noFill/>
            </a:ln>
            <a:effectLst/>
          </c:spPr>
          <c:marker>
            <c:symbol val="circle"/>
            <c:size val="6"/>
            <c:spPr>
              <a:solidFill>
                <a:srgbClr val="607D8B"/>
              </a:solidFill>
              <a:ln w="9525" cap="flat">
                <a:solidFill>
                  <a:srgbClr val="607D8B"/>
                </a:solidFill>
                <a:prstDash val="solid"/>
                <a:round/>
              </a:ln>
              <a:effectLst/>
            </c:spPr>
          </c:marker>
          <c:xVal>
            <c:numRef>
              <c:f>Sheet1!$A$2:$A$2</c:f>
              <c:numCache>
                <c:formatCode>General</c:formatCode>
                <c:ptCount val="1"/>
                <c:pt idx="0">
                  <c:v>1592</c:v>
                </c:pt>
              </c:numCache>
            </c:numRef>
          </c:xVal>
          <c:yVal>
            <c:numRef>
              <c:f>Sheet1!$J$2:$J$2</c:f>
              <c:numCache>
                <c:formatCode>General</c:formatCode>
                <c:ptCount val="1"/>
                <c:pt idx="0">
                  <c:v>68</c:v>
                </c:pt>
              </c:numCache>
            </c:numRef>
          </c:yVal>
          <c:smooth val="0"/>
          <c:extLst>
            <c:ext xmlns:c16="http://schemas.microsoft.com/office/drawing/2014/chart" uri="{C3380CC4-5D6E-409C-BE32-E72D297353CC}">
              <c16:uniqueId val="{00000008-B842-4B4B-9473-3BA67CF6A575}"/>
            </c:ext>
          </c:extLst>
        </c:ser>
        <c:dLbls>
          <c:showLegendKey val="0"/>
          <c:showVal val="0"/>
          <c:showCatName val="0"/>
          <c:showSerName val="0"/>
          <c:showPercent val="0"/>
          <c:showBubbleSize val="0"/>
        </c:dLbls>
        <c:axId val="2094734554"/>
        <c:axId val="2094734552"/>
      </c:scatterChart>
      <c:valAx>
        <c:axId val="2094734554"/>
        <c:scaling>
          <c:orientation val="minMax"/>
          <c:max val="7000"/>
          <c:min val="0"/>
        </c:scaling>
        <c:delete val="0"/>
        <c:axPos val="b"/>
        <c:majorGridlines>
          <c:spPr>
            <a:ln w="12700" cap="flat">
              <a:solidFill>
                <a:srgbClr val="E2EBF3"/>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LID4096"/>
          </a:p>
        </c:txPr>
        <c:crossAx val="2094734552"/>
        <c:crosses val="autoZero"/>
        <c:crossBetween val="midCat"/>
      </c:valAx>
      <c:valAx>
        <c:axId val="2094734552"/>
        <c:scaling>
          <c:orientation val="minMax"/>
          <c:min val="0"/>
        </c:scaling>
        <c:delete val="0"/>
        <c:axPos val="l"/>
        <c:majorGridlines>
          <c:spPr>
            <a:ln w="12700" cap="flat">
              <a:solidFill>
                <a:srgbClr val="E2EBF3"/>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LID4096"/>
          </a:p>
        </c:txPr>
        <c:crossAx val="2094734554"/>
        <c:crosses val="autoZero"/>
        <c:crossBetween val="midCat"/>
      </c:valAx>
      <c:spPr>
        <a:noFill/>
        <a:ln>
          <a:noFill/>
        </a:ln>
        <a:effectLst/>
      </c:spPr>
    </c:plotArea>
    <c:legend>
      <c:legendPos val="b"/>
      <c:overlay val="0"/>
      <c:txPr>
        <a:bodyPr/>
        <a:lstStyle/>
        <a:p>
          <a:pPr>
            <a:defRPr sz="700"/>
          </a:pPr>
          <a:endParaRPr lang="LID4096"/>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65A82"/>
                </a:solidFill>
                <a:latin typeface="Arial"/>
              </a:defRPr>
            </a:pPr>
            <a:r>
              <a:rPr lang="en-US" sz="1000" b="0" i="0" u="none" strike="noStrike">
                <a:solidFill>
                  <a:srgbClr val="065A82"/>
                </a:solidFill>
                <a:latin typeface="Arial"/>
              </a:rPr>
              <a:t>2019 Funding Share — Top Categories</a:t>
            </a:r>
          </a:p>
        </c:rich>
      </c:tx>
      <c:overlay val="0"/>
    </c:title>
    <c:autoTitleDeleted val="0"/>
    <c:plotArea>
      <c:layout/>
      <c:pieChart>
        <c:varyColors val="1"/>
        <c:ser>
          <c:idx val="0"/>
          <c:order val="0"/>
          <c:tx>
            <c:strRef>
              <c:f>Sheet1!$B$1</c:f>
              <c:strCache>
                <c:ptCount val="1"/>
                <c:pt idx="0">
                  <c:v>2019 Funding Share</c:v>
                </c:pt>
              </c:strCache>
            </c:strRef>
          </c:tx>
          <c:spPr>
            <a:solidFill>
              <a:schemeClr val="accent1"/>
            </a:solidFill>
            <a:ln w="9525" cap="flat">
              <a:solidFill>
                <a:srgbClr val="F9F9F9"/>
              </a:solidFill>
              <a:prstDash val="solid"/>
              <a:round/>
            </a:ln>
            <a:effectLst/>
          </c:spPr>
          <c:dPt>
            <c:idx val="0"/>
            <c:bubble3D val="0"/>
            <c:spPr>
              <a:solidFill>
                <a:srgbClr val="02C39A"/>
              </a:solidFill>
              <a:effectLst/>
            </c:spPr>
            <c:extLst>
              <c:ext xmlns:c16="http://schemas.microsoft.com/office/drawing/2014/chart" uri="{C3380CC4-5D6E-409C-BE32-E72D297353CC}">
                <c16:uniqueId val="{00000001-3516-48D5-9643-0D39ADDD573B}"/>
              </c:ext>
            </c:extLst>
          </c:dPt>
          <c:dPt>
            <c:idx val="1"/>
            <c:bubble3D val="0"/>
            <c:spPr>
              <a:solidFill>
                <a:srgbClr val="1C7293"/>
              </a:solidFill>
              <a:effectLst/>
            </c:spPr>
            <c:extLst>
              <c:ext xmlns:c16="http://schemas.microsoft.com/office/drawing/2014/chart" uri="{C3380CC4-5D6E-409C-BE32-E72D297353CC}">
                <c16:uniqueId val="{00000003-3516-48D5-9643-0D39ADDD573B}"/>
              </c:ext>
            </c:extLst>
          </c:dPt>
          <c:dPt>
            <c:idx val="2"/>
            <c:bubble3D val="0"/>
            <c:spPr>
              <a:solidFill>
                <a:srgbClr val="065A82"/>
              </a:solidFill>
              <a:effectLst/>
            </c:spPr>
            <c:extLst>
              <c:ext xmlns:c16="http://schemas.microsoft.com/office/drawing/2014/chart" uri="{C3380CC4-5D6E-409C-BE32-E72D297353CC}">
                <c16:uniqueId val="{00000005-3516-48D5-9643-0D39ADDD573B}"/>
              </c:ext>
            </c:extLst>
          </c:dPt>
          <c:dPt>
            <c:idx val="3"/>
            <c:bubble3D val="0"/>
            <c:spPr>
              <a:solidFill>
                <a:srgbClr val="F9A825"/>
              </a:solidFill>
              <a:effectLst/>
            </c:spPr>
            <c:extLst>
              <c:ext xmlns:c16="http://schemas.microsoft.com/office/drawing/2014/chart" uri="{C3380CC4-5D6E-409C-BE32-E72D297353CC}">
                <c16:uniqueId val="{00000007-3516-48D5-9643-0D39ADDD573B}"/>
              </c:ext>
            </c:extLst>
          </c:dPt>
          <c:dPt>
            <c:idx val="4"/>
            <c:bubble3D val="0"/>
            <c:spPr>
              <a:solidFill>
                <a:srgbClr val="E53E3E"/>
              </a:solidFill>
              <a:effectLst/>
            </c:spPr>
            <c:extLst>
              <c:ext xmlns:c16="http://schemas.microsoft.com/office/drawing/2014/chart" uri="{C3380CC4-5D6E-409C-BE32-E72D297353CC}">
                <c16:uniqueId val="{00000009-3516-48D5-9643-0D39ADDD573B}"/>
              </c:ext>
            </c:extLst>
          </c:dPt>
          <c:dPt>
            <c:idx val="5"/>
            <c:bubble3D val="0"/>
            <c:spPr>
              <a:solidFill>
                <a:srgbClr val="9B59B6"/>
              </a:solidFill>
              <a:effectLst/>
            </c:spPr>
            <c:extLst>
              <c:ext xmlns:c16="http://schemas.microsoft.com/office/drawing/2014/chart" uri="{C3380CC4-5D6E-409C-BE32-E72D297353CC}">
                <c16:uniqueId val="{0000000B-3516-48D5-9643-0D39ADDD573B}"/>
              </c:ext>
            </c:extLst>
          </c:dPt>
          <c:dPt>
            <c:idx val="6"/>
            <c:bubble3D val="0"/>
            <c:spPr>
              <a:solidFill>
                <a:srgbClr val="E2EBF3"/>
              </a:solidFill>
              <a:effectLst/>
            </c:spPr>
            <c:extLst>
              <c:ext xmlns:c16="http://schemas.microsoft.com/office/drawing/2014/chart" uri="{C3380CC4-5D6E-409C-BE32-E72D297353CC}">
                <c16:uniqueId val="{0000000D-3516-48D5-9643-0D39ADDD573B}"/>
              </c:ext>
            </c:extLst>
          </c:dPt>
          <c:dLbls>
            <c:dLbl>
              <c:idx val="0"/>
              <c:numFmt formatCode="0%" sourceLinked="0"/>
              <c:spPr/>
              <c:txPr>
                <a:bodyPr/>
                <a:lstStyle/>
                <a:p>
                  <a:pPr>
                    <a:defRPr sz="900" b="0" i="0" u="none" strike="noStrike">
                      <a:solidFill>
                        <a:srgbClr val="000000"/>
                      </a:solidFill>
                      <a:latin typeface="Arial"/>
                    </a:defRPr>
                  </a:pPr>
                  <a:endParaRPr lang="LID4096"/>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516-48D5-9643-0D39ADDD573B}"/>
                </c:ext>
              </c:extLst>
            </c:dLbl>
            <c:dLbl>
              <c:idx val="1"/>
              <c:numFmt formatCode="0%" sourceLinked="0"/>
              <c:spPr/>
              <c:txPr>
                <a:bodyPr/>
                <a:lstStyle/>
                <a:p>
                  <a:pPr>
                    <a:defRPr sz="900" b="0" i="0" u="none" strike="noStrike">
                      <a:solidFill>
                        <a:srgbClr val="000000"/>
                      </a:solidFill>
                      <a:latin typeface="Arial"/>
                    </a:defRPr>
                  </a:pPr>
                  <a:endParaRPr lang="LID4096"/>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516-48D5-9643-0D39ADDD573B}"/>
                </c:ext>
              </c:extLst>
            </c:dLbl>
            <c:dLbl>
              <c:idx val="2"/>
              <c:numFmt formatCode="0%" sourceLinked="0"/>
              <c:spPr/>
              <c:txPr>
                <a:bodyPr/>
                <a:lstStyle/>
                <a:p>
                  <a:pPr>
                    <a:defRPr sz="900" b="0" i="0" u="none" strike="noStrike">
                      <a:solidFill>
                        <a:srgbClr val="000000"/>
                      </a:solidFill>
                      <a:latin typeface="Arial"/>
                    </a:defRPr>
                  </a:pPr>
                  <a:endParaRPr lang="LID4096"/>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3516-48D5-9643-0D39ADDD573B}"/>
                </c:ext>
              </c:extLst>
            </c:dLbl>
            <c:dLbl>
              <c:idx val="3"/>
              <c:numFmt formatCode="0%" sourceLinked="0"/>
              <c:spPr/>
              <c:txPr>
                <a:bodyPr/>
                <a:lstStyle/>
                <a:p>
                  <a:pPr>
                    <a:defRPr sz="900" b="0" i="0" u="none" strike="noStrike">
                      <a:solidFill>
                        <a:srgbClr val="000000"/>
                      </a:solidFill>
                      <a:latin typeface="Arial"/>
                    </a:defRPr>
                  </a:pPr>
                  <a:endParaRPr lang="LID4096"/>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3516-48D5-9643-0D39ADDD573B}"/>
                </c:ext>
              </c:extLst>
            </c:dLbl>
            <c:dLbl>
              <c:idx val="4"/>
              <c:numFmt formatCode="0%" sourceLinked="0"/>
              <c:spPr/>
              <c:txPr>
                <a:bodyPr/>
                <a:lstStyle/>
                <a:p>
                  <a:pPr>
                    <a:defRPr sz="900" b="0" i="0" u="none" strike="noStrike">
                      <a:solidFill>
                        <a:srgbClr val="000000"/>
                      </a:solidFill>
                      <a:latin typeface="Arial"/>
                    </a:defRPr>
                  </a:pPr>
                  <a:endParaRPr lang="LID4096"/>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3516-48D5-9643-0D39ADDD573B}"/>
                </c:ext>
              </c:extLst>
            </c:dLbl>
            <c:dLbl>
              <c:idx val="5"/>
              <c:numFmt formatCode="0%" sourceLinked="0"/>
              <c:spPr/>
              <c:txPr>
                <a:bodyPr/>
                <a:lstStyle/>
                <a:p>
                  <a:pPr>
                    <a:defRPr sz="900" b="0" i="0" u="none" strike="noStrike">
                      <a:solidFill>
                        <a:srgbClr val="000000"/>
                      </a:solidFill>
                      <a:latin typeface="Arial"/>
                    </a:defRPr>
                  </a:pPr>
                  <a:endParaRPr lang="LID4096"/>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3516-48D5-9643-0D39ADDD573B}"/>
                </c:ext>
              </c:extLst>
            </c:dLbl>
            <c:dLbl>
              <c:idx val="6"/>
              <c:numFmt formatCode="0%" sourceLinked="0"/>
              <c:spPr/>
              <c:txPr>
                <a:bodyPr/>
                <a:lstStyle/>
                <a:p>
                  <a:pPr>
                    <a:defRPr sz="900" b="0" i="0" u="none" strike="noStrike">
                      <a:solidFill>
                        <a:srgbClr val="000000"/>
                      </a:solidFill>
                      <a:latin typeface="Arial"/>
                    </a:defRPr>
                  </a:pPr>
                  <a:endParaRPr lang="LID4096"/>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3516-48D5-9643-0D39ADDD573B}"/>
                </c:ext>
              </c:extLst>
            </c:dLbl>
            <c:numFmt formatCode="0%" sourceLinked="0"/>
            <c:spPr>
              <a:noFill/>
              <a:ln>
                <a:noFill/>
              </a:ln>
              <a:effectLst/>
            </c:spPr>
            <c:txPr>
              <a:bodyPr/>
              <a:lstStyle/>
              <a:p>
                <a:pPr>
                  <a:defRPr sz="1800" b="0" i="0" u="none" strike="noStrike">
                    <a:solidFill>
                      <a:srgbClr val="000000"/>
                    </a:solidFill>
                    <a:latin typeface="Arial"/>
                  </a:defRPr>
                </a:pPr>
                <a:endParaRPr lang="LID4096"/>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Clinical Research</c:v>
                </c:pt>
                <c:pt idx="1">
                  <c:v>Genetics</c:v>
                </c:pt>
                <c:pt idx="2">
                  <c:v>Prevention</c:v>
                </c:pt>
                <c:pt idx="3">
                  <c:v>Neurosciences</c:v>
                </c:pt>
                <c:pt idx="4">
                  <c:v>Biotechnology</c:v>
                </c:pt>
                <c:pt idx="5">
                  <c:v>Cancer</c:v>
                </c:pt>
                <c:pt idx="6">
                  <c:v>Other</c:v>
                </c:pt>
              </c:strCache>
            </c:strRef>
          </c:cat>
          <c:val>
            <c:numRef>
              <c:f>Sheet1!$B$2:$B$8</c:f>
              <c:numCache>
                <c:formatCode>General</c:formatCode>
                <c:ptCount val="7"/>
                <c:pt idx="0">
                  <c:v>15868</c:v>
                </c:pt>
                <c:pt idx="1">
                  <c:v>9864</c:v>
                </c:pt>
                <c:pt idx="2">
                  <c:v>9485</c:v>
                </c:pt>
                <c:pt idx="3">
                  <c:v>9468</c:v>
                </c:pt>
                <c:pt idx="4">
                  <c:v>7219</c:v>
                </c:pt>
                <c:pt idx="5">
                  <c:v>6520</c:v>
                </c:pt>
                <c:pt idx="6">
                  <c:v>179475</c:v>
                </c:pt>
              </c:numCache>
            </c:numRef>
          </c:val>
          <c:extLst>
            <c:ext xmlns:c16="http://schemas.microsoft.com/office/drawing/2014/chart" uri="{C3380CC4-5D6E-409C-BE32-E72D297353CC}">
              <c16:uniqueId val="{0000000E-3516-48D5-9643-0D39ADDD573B}"/>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800"/>
          </a:pPr>
          <a:endParaRPr lang="LID4096"/>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735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w="12700">
            <a:solidFill>
              <a:srgbClr val="02C39A"/>
            </a:solidFill>
            <a:prstDash val="solid"/>
          </a:ln>
        </p:spPr>
      </p:sp>
      <p:sp>
        <p:nvSpPr>
          <p:cNvPr id="3" name="Shape 1"/>
          <p:cNvSpPr/>
          <p:nvPr/>
        </p:nvSpPr>
        <p:spPr>
          <a:xfrm>
            <a:off x="164592" y="0"/>
            <a:ext cx="8979408" cy="73152"/>
          </a:xfrm>
          <a:prstGeom prst="rect">
            <a:avLst/>
          </a:prstGeom>
          <a:solidFill>
            <a:srgbClr val="1C7293"/>
          </a:solidFill>
          <a:ln w="12700">
            <a:solidFill>
              <a:srgbClr val="1C7293"/>
            </a:solidFill>
            <a:prstDash val="solid"/>
          </a:ln>
        </p:spPr>
      </p:sp>
      <p:sp>
        <p:nvSpPr>
          <p:cNvPr id="4" name="Text 2"/>
          <p:cNvSpPr/>
          <p:nvPr/>
        </p:nvSpPr>
        <p:spPr>
          <a:xfrm>
            <a:off x="457200" y="914400"/>
            <a:ext cx="5943600" cy="82296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HealthCare Research</a:t>
            </a:r>
            <a:endParaRPr lang="en-US" sz="4200" dirty="0"/>
          </a:p>
        </p:txBody>
      </p:sp>
      <p:sp>
        <p:nvSpPr>
          <p:cNvPr id="5" name="Text 3"/>
          <p:cNvSpPr/>
          <p:nvPr/>
        </p:nvSpPr>
        <p:spPr>
          <a:xfrm>
            <a:off x="457200" y="1691640"/>
            <a:ext cx="5943600" cy="822960"/>
          </a:xfrm>
          <a:prstGeom prst="rect">
            <a:avLst/>
          </a:prstGeom>
          <a:noFill/>
          <a:ln/>
        </p:spPr>
        <p:txBody>
          <a:bodyPr wrap="square" rtlCol="0" anchor="ctr"/>
          <a:lstStyle/>
          <a:p>
            <a:pPr marL="0" indent="0" algn="l">
              <a:buNone/>
            </a:pPr>
            <a:r>
              <a:rPr lang="en-US" sz="4200" b="1" dirty="0">
                <a:solidFill>
                  <a:srgbClr val="02C39A"/>
                </a:solidFill>
                <a:latin typeface="Calibri" pitchFamily="34" charset="0"/>
                <a:ea typeface="Calibri" pitchFamily="34" charset="-122"/>
                <a:cs typeface="Calibri" pitchFamily="34" charset="-120"/>
              </a:rPr>
              <a:t>Funding Analysis</a:t>
            </a:r>
            <a:endParaRPr lang="en-US" sz="4200" dirty="0"/>
          </a:p>
        </p:txBody>
      </p:sp>
      <p:sp>
        <p:nvSpPr>
          <p:cNvPr id="6" name="Text 4"/>
          <p:cNvSpPr/>
          <p:nvPr/>
        </p:nvSpPr>
        <p:spPr>
          <a:xfrm>
            <a:off x="457200" y="2651760"/>
            <a:ext cx="5669280" cy="822960"/>
          </a:xfrm>
          <a:prstGeom prst="rect">
            <a:avLst/>
          </a:prstGeom>
          <a:noFill/>
          <a:ln/>
        </p:spPr>
        <p:txBody>
          <a:bodyPr wrap="square" rtlCol="0" anchor="ctr"/>
          <a:lstStyle/>
          <a:p>
            <a:pPr marL="0" indent="0" algn="l">
              <a:buNone/>
            </a:pPr>
            <a:r>
              <a:rPr lang="en-US" sz="1400" dirty="0">
                <a:solidFill>
                  <a:srgbClr val="A0BDD0"/>
                </a:solidFill>
                <a:latin typeface="Calibri" pitchFamily="34" charset="0"/>
                <a:ea typeface="Calibri" pitchFamily="34" charset="-122"/>
                <a:cs typeface="Calibri" pitchFamily="34" charset="-120"/>
              </a:rPr>
              <a:t>Exploring NIH/RCDC Dataset (2008–2024)</a:t>
            </a:r>
            <a:endParaRPr lang="en-US" sz="1400" dirty="0"/>
          </a:p>
          <a:p>
            <a:pPr marL="0" indent="0" algn="l">
              <a:buNone/>
            </a:pPr>
            <a:r>
              <a:rPr lang="en-US" sz="1400" dirty="0">
                <a:solidFill>
                  <a:srgbClr val="A0BDD0"/>
                </a:solidFill>
                <a:latin typeface="Calibri" pitchFamily="34" charset="0"/>
                <a:ea typeface="Calibri" pitchFamily="34" charset="-122"/>
                <a:cs typeface="Calibri" pitchFamily="34" charset="-120"/>
              </a:rPr>
              <a:t>Research Funding, Mortality &amp; Prevalence Trends</a:t>
            </a:r>
            <a:endParaRPr lang="en-US" sz="1400" dirty="0"/>
          </a:p>
        </p:txBody>
      </p:sp>
      <p:sp>
        <p:nvSpPr>
          <p:cNvPr id="7" name="Shape 5"/>
          <p:cNvSpPr/>
          <p:nvPr/>
        </p:nvSpPr>
        <p:spPr>
          <a:xfrm>
            <a:off x="6583680" y="548640"/>
            <a:ext cx="2286000" cy="4023360"/>
          </a:xfrm>
          <a:prstGeom prst="rect">
            <a:avLst/>
          </a:prstGeom>
          <a:solidFill>
            <a:srgbClr val="065A82"/>
          </a:solidFill>
          <a:ln w="12700">
            <a:solidFill>
              <a:srgbClr val="1C7293"/>
            </a:solidFill>
            <a:prstDash val="solid"/>
          </a:ln>
        </p:spPr>
      </p:sp>
      <p:sp>
        <p:nvSpPr>
          <p:cNvPr id="8" name="Text 6"/>
          <p:cNvSpPr/>
          <p:nvPr/>
        </p:nvSpPr>
        <p:spPr>
          <a:xfrm>
            <a:off x="6583680" y="640080"/>
            <a:ext cx="2286000" cy="365760"/>
          </a:xfrm>
          <a:prstGeom prst="rect">
            <a:avLst/>
          </a:prstGeom>
          <a:noFill/>
          <a:ln/>
        </p:spPr>
        <p:txBody>
          <a:bodyPr wrap="square"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Project Info</a:t>
            </a:r>
            <a:endParaRPr lang="en-US" sz="1000" dirty="0"/>
          </a:p>
        </p:txBody>
      </p:sp>
      <p:sp>
        <p:nvSpPr>
          <p:cNvPr id="9" name="Text 7"/>
          <p:cNvSpPr/>
          <p:nvPr/>
        </p:nvSpPr>
        <p:spPr>
          <a:xfrm>
            <a:off x="6675120" y="1143000"/>
            <a:ext cx="822960" cy="320040"/>
          </a:xfrm>
          <a:prstGeom prst="rect">
            <a:avLst/>
          </a:prstGeom>
          <a:noFill/>
          <a:ln/>
        </p:spPr>
        <p:txBody>
          <a:bodyPr wrap="square" rtlCol="0" anchor="ctr"/>
          <a:lstStyle/>
          <a:p>
            <a:pPr marL="0" indent="0">
              <a:buNone/>
            </a:pPr>
            <a:r>
              <a:rPr lang="en-US" sz="900" b="1" dirty="0">
                <a:solidFill>
                  <a:srgbClr val="A0BDD0"/>
                </a:solidFill>
                <a:latin typeface="Calibri" pitchFamily="34" charset="0"/>
                <a:ea typeface="Calibri" pitchFamily="34" charset="-122"/>
                <a:cs typeface="Calibri" pitchFamily="34" charset="-120"/>
              </a:rPr>
              <a:t>Dataset</a:t>
            </a:r>
            <a:endParaRPr lang="en-US" sz="900" dirty="0"/>
          </a:p>
        </p:txBody>
      </p:sp>
      <p:sp>
        <p:nvSpPr>
          <p:cNvPr id="10" name="Text 8"/>
          <p:cNvSpPr/>
          <p:nvPr/>
        </p:nvSpPr>
        <p:spPr>
          <a:xfrm>
            <a:off x="7543800" y="1143000"/>
            <a:ext cx="1234440" cy="3200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RCDC Summary</a:t>
            </a:r>
            <a:endParaRPr lang="en-US" sz="900" dirty="0"/>
          </a:p>
        </p:txBody>
      </p:sp>
      <p:sp>
        <p:nvSpPr>
          <p:cNvPr id="11" name="Text 9"/>
          <p:cNvSpPr/>
          <p:nvPr/>
        </p:nvSpPr>
        <p:spPr>
          <a:xfrm>
            <a:off x="6675120" y="1691640"/>
            <a:ext cx="822960" cy="320040"/>
          </a:xfrm>
          <a:prstGeom prst="rect">
            <a:avLst/>
          </a:prstGeom>
          <a:noFill/>
          <a:ln/>
        </p:spPr>
        <p:txBody>
          <a:bodyPr wrap="square" rtlCol="0" anchor="ctr"/>
          <a:lstStyle/>
          <a:p>
            <a:pPr marL="0" indent="0">
              <a:buNone/>
            </a:pPr>
            <a:r>
              <a:rPr lang="en-US" sz="900" b="1" dirty="0">
                <a:solidFill>
                  <a:srgbClr val="A0BDD0"/>
                </a:solidFill>
                <a:latin typeface="Calibri" pitchFamily="34" charset="0"/>
                <a:ea typeface="Calibri" pitchFamily="34" charset="-122"/>
                <a:cs typeface="Calibri" pitchFamily="34" charset="-120"/>
              </a:rPr>
              <a:t>Period</a:t>
            </a:r>
            <a:endParaRPr lang="en-US" sz="900" dirty="0"/>
          </a:p>
        </p:txBody>
      </p:sp>
      <p:sp>
        <p:nvSpPr>
          <p:cNvPr id="12" name="Text 10"/>
          <p:cNvSpPr/>
          <p:nvPr/>
        </p:nvSpPr>
        <p:spPr>
          <a:xfrm>
            <a:off x="7543800" y="1691640"/>
            <a:ext cx="1234440" cy="3200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2008 – 2024</a:t>
            </a:r>
            <a:endParaRPr lang="en-US" sz="900" dirty="0"/>
          </a:p>
        </p:txBody>
      </p:sp>
      <p:sp>
        <p:nvSpPr>
          <p:cNvPr id="13" name="Text 11"/>
          <p:cNvSpPr/>
          <p:nvPr/>
        </p:nvSpPr>
        <p:spPr>
          <a:xfrm>
            <a:off x="6675120" y="2240280"/>
            <a:ext cx="822960" cy="320040"/>
          </a:xfrm>
          <a:prstGeom prst="rect">
            <a:avLst/>
          </a:prstGeom>
          <a:noFill/>
          <a:ln/>
        </p:spPr>
        <p:txBody>
          <a:bodyPr wrap="square" rtlCol="0" anchor="ctr"/>
          <a:lstStyle/>
          <a:p>
            <a:pPr marL="0" indent="0">
              <a:buNone/>
            </a:pPr>
            <a:r>
              <a:rPr lang="en-US" sz="900" b="1" dirty="0">
                <a:solidFill>
                  <a:srgbClr val="A0BDD0"/>
                </a:solidFill>
                <a:latin typeface="Calibri" pitchFamily="34" charset="0"/>
                <a:ea typeface="Calibri" pitchFamily="34" charset="-122"/>
                <a:cs typeface="Calibri" pitchFamily="34" charset="-120"/>
              </a:rPr>
              <a:t>Records</a:t>
            </a:r>
            <a:endParaRPr lang="en-US" sz="900" dirty="0"/>
          </a:p>
        </p:txBody>
      </p:sp>
      <p:sp>
        <p:nvSpPr>
          <p:cNvPr id="14" name="Text 12"/>
          <p:cNvSpPr/>
          <p:nvPr/>
        </p:nvSpPr>
        <p:spPr>
          <a:xfrm>
            <a:off x="7543800" y="2240280"/>
            <a:ext cx="1234440" cy="3200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315 Disease Areas</a:t>
            </a:r>
            <a:endParaRPr lang="en-US" sz="900" dirty="0"/>
          </a:p>
        </p:txBody>
      </p:sp>
      <p:sp>
        <p:nvSpPr>
          <p:cNvPr id="15" name="Text 13"/>
          <p:cNvSpPr/>
          <p:nvPr/>
        </p:nvSpPr>
        <p:spPr>
          <a:xfrm>
            <a:off x="6675120" y="2788920"/>
            <a:ext cx="822960" cy="320040"/>
          </a:xfrm>
          <a:prstGeom prst="rect">
            <a:avLst/>
          </a:prstGeom>
          <a:noFill/>
          <a:ln/>
        </p:spPr>
        <p:txBody>
          <a:bodyPr wrap="square" rtlCol="0" anchor="ctr"/>
          <a:lstStyle/>
          <a:p>
            <a:pPr marL="0" indent="0">
              <a:buNone/>
            </a:pPr>
            <a:r>
              <a:rPr lang="en-US" sz="900" b="1" dirty="0">
                <a:solidFill>
                  <a:srgbClr val="A0BDD0"/>
                </a:solidFill>
                <a:latin typeface="Calibri" pitchFamily="34" charset="0"/>
                <a:ea typeface="Calibri" pitchFamily="34" charset="-122"/>
                <a:cs typeface="Calibri" pitchFamily="34" charset="-120"/>
              </a:rPr>
              <a:t>Tool</a:t>
            </a:r>
            <a:endParaRPr lang="en-US" sz="900" dirty="0"/>
          </a:p>
        </p:txBody>
      </p:sp>
      <p:sp>
        <p:nvSpPr>
          <p:cNvPr id="16" name="Text 14"/>
          <p:cNvSpPr/>
          <p:nvPr/>
        </p:nvSpPr>
        <p:spPr>
          <a:xfrm>
            <a:off x="7543800" y="2788920"/>
            <a:ext cx="1234440" cy="3200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Tableau / Power BI</a:t>
            </a:r>
            <a:endParaRPr lang="en-US" sz="900" dirty="0"/>
          </a:p>
        </p:txBody>
      </p:sp>
      <p:sp>
        <p:nvSpPr>
          <p:cNvPr id="17" name="Text 15"/>
          <p:cNvSpPr/>
          <p:nvPr/>
        </p:nvSpPr>
        <p:spPr>
          <a:xfrm>
            <a:off x="6675120" y="3337560"/>
            <a:ext cx="822960" cy="320040"/>
          </a:xfrm>
          <a:prstGeom prst="rect">
            <a:avLst/>
          </a:prstGeom>
          <a:noFill/>
          <a:ln/>
        </p:spPr>
        <p:txBody>
          <a:bodyPr wrap="square" rtlCol="0" anchor="ctr"/>
          <a:lstStyle/>
          <a:p>
            <a:pPr marL="0" indent="0">
              <a:buNone/>
            </a:pPr>
            <a:r>
              <a:rPr lang="en-US" sz="900" b="1" dirty="0">
                <a:solidFill>
                  <a:srgbClr val="A0BDD0"/>
                </a:solidFill>
                <a:latin typeface="Calibri" pitchFamily="34" charset="0"/>
                <a:ea typeface="Calibri" pitchFamily="34" charset="-122"/>
                <a:cs typeface="Calibri" pitchFamily="34" charset="-120"/>
              </a:rPr>
              <a:t>Type</a:t>
            </a:r>
            <a:endParaRPr lang="en-US" sz="900" dirty="0"/>
          </a:p>
        </p:txBody>
      </p:sp>
      <p:sp>
        <p:nvSpPr>
          <p:cNvPr id="18" name="Text 16"/>
          <p:cNvSpPr/>
          <p:nvPr/>
        </p:nvSpPr>
        <p:spPr>
          <a:xfrm>
            <a:off x="7543800" y="3337560"/>
            <a:ext cx="1234440" cy="3200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Capstone Project</a:t>
            </a:r>
            <a:endParaRPr lang="en-US" sz="900" dirty="0"/>
          </a:p>
        </p:txBody>
      </p:sp>
      <p:sp>
        <p:nvSpPr>
          <p:cNvPr id="19" name="Text 17"/>
          <p:cNvSpPr/>
          <p:nvPr/>
        </p:nvSpPr>
        <p:spPr>
          <a:xfrm>
            <a:off x="457200" y="4663440"/>
            <a:ext cx="5486400" cy="274320"/>
          </a:xfrm>
          <a:prstGeom prst="rect">
            <a:avLst/>
          </a:prstGeom>
          <a:noFill/>
          <a:ln/>
        </p:spPr>
        <p:txBody>
          <a:bodyPr wrap="square" rtlCol="0" anchor="ctr"/>
          <a:lstStyle/>
          <a:p>
            <a:pPr marL="0" indent="0">
              <a:buNone/>
            </a:pPr>
            <a:r>
              <a:rPr lang="en-US" sz="900" dirty="0">
                <a:solidFill>
                  <a:srgbClr val="4A6880"/>
                </a:solidFill>
                <a:latin typeface="Calibri" pitchFamily="34" charset="0"/>
                <a:ea typeface="Calibri" pitchFamily="34" charset="-122"/>
                <a:cs typeface="Calibri" pitchFamily="34" charset="-120"/>
              </a:rPr>
              <a:t>Healthcare Analytics Project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65A82"/>
          </a:solidFill>
          <a:ln w="12700">
            <a:solidFill>
              <a:srgbClr val="065A82"/>
            </a:solidFill>
            <a:prstDash val="solid"/>
          </a:ln>
        </p:spPr>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01  Introduction</a:t>
            </a:r>
            <a:endParaRPr lang="en-US" sz="1800" dirty="0"/>
          </a:p>
        </p:txBody>
      </p:sp>
      <p:sp>
        <p:nvSpPr>
          <p:cNvPr id="4" name="Text 2"/>
          <p:cNvSpPr/>
          <p:nvPr/>
        </p:nvSpPr>
        <p:spPr>
          <a:xfrm>
            <a:off x="365760" y="777240"/>
            <a:ext cx="8412480" cy="1005840"/>
          </a:xfrm>
          <a:prstGeom prst="rect">
            <a:avLst/>
          </a:prstGeom>
          <a:noFill/>
          <a:ln/>
        </p:spPr>
        <p:txBody>
          <a:bodyPr wrap="square" rtlCol="0" anchor="ctr"/>
          <a:lstStyle/>
          <a:p>
            <a:pPr marL="0" indent="0" algn="l">
              <a:buNone/>
            </a:pPr>
            <a:r>
              <a:rPr lang="en-US" sz="1300" dirty="0">
                <a:solidFill>
                  <a:srgbClr val="0D1B2A"/>
                </a:solidFill>
                <a:latin typeface="Calibri" pitchFamily="34" charset="0"/>
                <a:ea typeface="Calibri" pitchFamily="34" charset="-122"/>
                <a:cs typeface="Calibri" pitchFamily="34" charset="-120"/>
              </a:rPr>
              <a:t>For this project, I worked with the NIH RCDC (Research, Condition, and Disease Categorization) dataset, which tracks how the US government allocated research funding across hundreds of disease and health areas from 2008 all the way to 2024. The dataset also includes 2019 mortality and prevalence figures, making it a rich source for understanding the relationship between research investment and real-world health burdens.</a:t>
            </a:r>
            <a:endParaRPr lang="en-US" sz="1300" dirty="0"/>
          </a:p>
        </p:txBody>
      </p:sp>
      <p:sp>
        <p:nvSpPr>
          <p:cNvPr id="5" name="Shape 3"/>
          <p:cNvSpPr/>
          <p:nvPr/>
        </p:nvSpPr>
        <p:spPr>
          <a:xfrm>
            <a:off x="365760" y="1920240"/>
            <a:ext cx="2651760" cy="2377440"/>
          </a:xfrm>
          <a:prstGeom prst="rect">
            <a:avLst/>
          </a:prstGeom>
          <a:solidFill>
            <a:srgbClr val="065A82"/>
          </a:solidFill>
          <a:ln w="12700">
            <a:solidFill>
              <a:srgbClr val="065A82"/>
            </a:solidFill>
            <a:prstDash val="solid"/>
          </a:ln>
        </p:spPr>
      </p:sp>
      <p:sp>
        <p:nvSpPr>
          <p:cNvPr id="6" name="Shape 4"/>
          <p:cNvSpPr/>
          <p:nvPr/>
        </p:nvSpPr>
        <p:spPr>
          <a:xfrm>
            <a:off x="365760" y="1920240"/>
            <a:ext cx="2651760" cy="411480"/>
          </a:xfrm>
          <a:prstGeom prst="rect">
            <a:avLst/>
          </a:prstGeom>
          <a:solidFill>
            <a:srgbClr val="CCCCCC"/>
          </a:solidFill>
          <a:ln w="12700">
            <a:solidFill>
              <a:srgbClr val="EEEEEE"/>
            </a:solidFill>
            <a:prstDash val="solid"/>
          </a:ln>
        </p:spPr>
      </p:sp>
      <p:sp>
        <p:nvSpPr>
          <p:cNvPr id="7" name="Text 5"/>
          <p:cNvSpPr/>
          <p:nvPr/>
        </p:nvSpPr>
        <p:spPr>
          <a:xfrm>
            <a:off x="457200" y="1965960"/>
            <a:ext cx="24688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Trend Analysis</a:t>
            </a:r>
            <a:endParaRPr lang="en-US" sz="1200" dirty="0"/>
          </a:p>
        </p:txBody>
      </p:sp>
      <p:sp>
        <p:nvSpPr>
          <p:cNvPr id="8" name="Text 6"/>
          <p:cNvSpPr/>
          <p:nvPr/>
        </p:nvSpPr>
        <p:spPr>
          <a:xfrm>
            <a:off x="457200" y="2423160"/>
            <a:ext cx="2468880" cy="16459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Track how funding evolved from 2008 to 2024 across disease areas, spotting growth areas and dips.</a:t>
            </a:r>
            <a:endParaRPr lang="en-US" sz="1100" dirty="0"/>
          </a:p>
        </p:txBody>
      </p:sp>
      <p:sp>
        <p:nvSpPr>
          <p:cNvPr id="9" name="Shape 7"/>
          <p:cNvSpPr/>
          <p:nvPr/>
        </p:nvSpPr>
        <p:spPr>
          <a:xfrm>
            <a:off x="3200400" y="1920240"/>
            <a:ext cx="2651760" cy="2377440"/>
          </a:xfrm>
          <a:prstGeom prst="rect">
            <a:avLst/>
          </a:prstGeom>
          <a:solidFill>
            <a:srgbClr val="1C7293"/>
          </a:solidFill>
          <a:ln w="12700">
            <a:solidFill>
              <a:srgbClr val="1C7293"/>
            </a:solidFill>
            <a:prstDash val="solid"/>
          </a:ln>
        </p:spPr>
      </p:sp>
      <p:sp>
        <p:nvSpPr>
          <p:cNvPr id="10" name="Shape 8"/>
          <p:cNvSpPr/>
          <p:nvPr/>
        </p:nvSpPr>
        <p:spPr>
          <a:xfrm>
            <a:off x="3200400" y="1920240"/>
            <a:ext cx="2651760" cy="411480"/>
          </a:xfrm>
          <a:prstGeom prst="rect">
            <a:avLst/>
          </a:prstGeom>
          <a:solidFill>
            <a:srgbClr val="CCCCCC"/>
          </a:solidFill>
          <a:ln w="12700">
            <a:solidFill>
              <a:srgbClr val="EEEEEE"/>
            </a:solidFill>
            <a:prstDash val="solid"/>
          </a:ln>
        </p:spPr>
      </p:sp>
      <p:sp>
        <p:nvSpPr>
          <p:cNvPr id="11" name="Text 9"/>
          <p:cNvSpPr/>
          <p:nvPr/>
        </p:nvSpPr>
        <p:spPr>
          <a:xfrm>
            <a:off x="3291840" y="1965960"/>
            <a:ext cx="24688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Comparative Study</a:t>
            </a:r>
            <a:endParaRPr lang="en-US" sz="1200" dirty="0"/>
          </a:p>
        </p:txBody>
      </p:sp>
      <p:sp>
        <p:nvSpPr>
          <p:cNvPr id="12" name="Text 10"/>
          <p:cNvSpPr/>
          <p:nvPr/>
        </p:nvSpPr>
        <p:spPr>
          <a:xfrm>
            <a:off x="3291840" y="2423160"/>
            <a:ext cx="2468880" cy="16459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Compare funding levels across diseases annually and understand where priorities shifted over time.</a:t>
            </a:r>
            <a:endParaRPr lang="en-US" sz="1100" dirty="0"/>
          </a:p>
        </p:txBody>
      </p:sp>
      <p:sp>
        <p:nvSpPr>
          <p:cNvPr id="13" name="Shape 11"/>
          <p:cNvSpPr/>
          <p:nvPr/>
        </p:nvSpPr>
        <p:spPr>
          <a:xfrm>
            <a:off x="6035040" y="1920240"/>
            <a:ext cx="2651760" cy="2377440"/>
          </a:xfrm>
          <a:prstGeom prst="rect">
            <a:avLst/>
          </a:prstGeom>
          <a:solidFill>
            <a:srgbClr val="02C39A"/>
          </a:solidFill>
          <a:ln w="12700">
            <a:solidFill>
              <a:srgbClr val="02C39A"/>
            </a:solidFill>
            <a:prstDash val="solid"/>
          </a:ln>
        </p:spPr>
      </p:sp>
      <p:sp>
        <p:nvSpPr>
          <p:cNvPr id="14" name="Shape 12"/>
          <p:cNvSpPr/>
          <p:nvPr/>
        </p:nvSpPr>
        <p:spPr>
          <a:xfrm>
            <a:off x="6035040" y="1920240"/>
            <a:ext cx="2651760" cy="411480"/>
          </a:xfrm>
          <a:prstGeom prst="rect">
            <a:avLst/>
          </a:prstGeom>
          <a:solidFill>
            <a:srgbClr val="CCCCCC"/>
          </a:solidFill>
          <a:ln w="12700">
            <a:solidFill>
              <a:srgbClr val="EEEEEE"/>
            </a:solidFill>
            <a:prstDash val="solid"/>
          </a:ln>
        </p:spPr>
      </p:sp>
      <p:sp>
        <p:nvSpPr>
          <p:cNvPr id="15" name="Text 13"/>
          <p:cNvSpPr/>
          <p:nvPr/>
        </p:nvSpPr>
        <p:spPr>
          <a:xfrm>
            <a:off x="6126480" y="1965960"/>
            <a:ext cx="24688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Health Impact</a:t>
            </a:r>
            <a:endParaRPr lang="en-US" sz="1200" dirty="0"/>
          </a:p>
        </p:txBody>
      </p:sp>
      <p:sp>
        <p:nvSpPr>
          <p:cNvPr id="16" name="Text 14"/>
          <p:cNvSpPr/>
          <p:nvPr/>
        </p:nvSpPr>
        <p:spPr>
          <a:xfrm>
            <a:off x="6126480" y="2423160"/>
            <a:ext cx="2468880" cy="16459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Explore the correlation between research investment and 2019 mortality/prevalence data.</a:t>
            </a:r>
            <a:endParaRPr lang="en-US" sz="1100" dirty="0"/>
          </a:p>
        </p:txBody>
      </p:sp>
      <p:sp>
        <p:nvSpPr>
          <p:cNvPr id="17" name="Shape 15"/>
          <p:cNvSpPr/>
          <p:nvPr/>
        </p:nvSpPr>
        <p:spPr>
          <a:xfrm>
            <a:off x="365760" y="4434840"/>
            <a:ext cx="1920240" cy="548640"/>
          </a:xfrm>
          <a:prstGeom prst="rect">
            <a:avLst/>
          </a:prstGeom>
          <a:solidFill>
            <a:srgbClr val="E2EBF3"/>
          </a:solidFill>
          <a:ln w="12700">
            <a:solidFill>
              <a:srgbClr val="1C7293"/>
            </a:solidFill>
            <a:prstDash val="solid"/>
          </a:ln>
        </p:spPr>
      </p:sp>
      <p:sp>
        <p:nvSpPr>
          <p:cNvPr id="18" name="Text 16"/>
          <p:cNvSpPr/>
          <p:nvPr/>
        </p:nvSpPr>
        <p:spPr>
          <a:xfrm>
            <a:off x="365760" y="4434840"/>
            <a:ext cx="1920240" cy="320040"/>
          </a:xfrm>
          <a:prstGeom prst="rect">
            <a:avLst/>
          </a:prstGeom>
          <a:noFill/>
          <a:ln/>
        </p:spPr>
        <p:txBody>
          <a:bodyPr wrap="square"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315</a:t>
            </a:r>
            <a:endParaRPr lang="en-US" sz="1400" dirty="0"/>
          </a:p>
        </p:txBody>
      </p:sp>
      <p:sp>
        <p:nvSpPr>
          <p:cNvPr id="19" name="Text 17"/>
          <p:cNvSpPr/>
          <p:nvPr/>
        </p:nvSpPr>
        <p:spPr>
          <a:xfrm>
            <a:off x="365760" y="4727448"/>
            <a:ext cx="1920240" cy="22860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Disease Areas</a:t>
            </a:r>
            <a:endParaRPr lang="en-US" sz="900" dirty="0"/>
          </a:p>
        </p:txBody>
      </p:sp>
      <p:sp>
        <p:nvSpPr>
          <p:cNvPr id="20" name="Shape 18"/>
          <p:cNvSpPr/>
          <p:nvPr/>
        </p:nvSpPr>
        <p:spPr>
          <a:xfrm>
            <a:off x="2468880" y="4434840"/>
            <a:ext cx="1920240" cy="548640"/>
          </a:xfrm>
          <a:prstGeom prst="rect">
            <a:avLst/>
          </a:prstGeom>
          <a:solidFill>
            <a:srgbClr val="E2EBF3"/>
          </a:solidFill>
          <a:ln w="12700">
            <a:solidFill>
              <a:srgbClr val="1C7293"/>
            </a:solidFill>
            <a:prstDash val="solid"/>
          </a:ln>
        </p:spPr>
      </p:sp>
      <p:sp>
        <p:nvSpPr>
          <p:cNvPr id="21" name="Text 19"/>
          <p:cNvSpPr/>
          <p:nvPr/>
        </p:nvSpPr>
        <p:spPr>
          <a:xfrm>
            <a:off x="2468880" y="4434840"/>
            <a:ext cx="1920240" cy="320040"/>
          </a:xfrm>
          <a:prstGeom prst="rect">
            <a:avLst/>
          </a:prstGeom>
          <a:noFill/>
          <a:ln/>
        </p:spPr>
        <p:txBody>
          <a:bodyPr wrap="square"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17</a:t>
            </a:r>
            <a:endParaRPr lang="en-US" sz="1400" dirty="0"/>
          </a:p>
        </p:txBody>
      </p:sp>
      <p:sp>
        <p:nvSpPr>
          <p:cNvPr id="22" name="Text 20"/>
          <p:cNvSpPr/>
          <p:nvPr/>
        </p:nvSpPr>
        <p:spPr>
          <a:xfrm>
            <a:off x="2468880" y="4727448"/>
            <a:ext cx="1920240" cy="22860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Years of Data</a:t>
            </a:r>
            <a:endParaRPr lang="en-US" sz="900" dirty="0"/>
          </a:p>
        </p:txBody>
      </p:sp>
      <p:sp>
        <p:nvSpPr>
          <p:cNvPr id="23" name="Shape 21"/>
          <p:cNvSpPr/>
          <p:nvPr/>
        </p:nvSpPr>
        <p:spPr>
          <a:xfrm>
            <a:off x="4572000" y="4434840"/>
            <a:ext cx="1920240" cy="548640"/>
          </a:xfrm>
          <a:prstGeom prst="rect">
            <a:avLst/>
          </a:prstGeom>
          <a:solidFill>
            <a:srgbClr val="E2EBF3"/>
          </a:solidFill>
          <a:ln w="12700">
            <a:solidFill>
              <a:srgbClr val="1C7293"/>
            </a:solidFill>
            <a:prstDash val="solid"/>
          </a:ln>
        </p:spPr>
      </p:sp>
      <p:sp>
        <p:nvSpPr>
          <p:cNvPr id="24" name="Text 22"/>
          <p:cNvSpPr/>
          <p:nvPr/>
        </p:nvSpPr>
        <p:spPr>
          <a:xfrm>
            <a:off x="4572000" y="4434840"/>
            <a:ext cx="1920240" cy="320040"/>
          </a:xfrm>
          <a:prstGeom prst="rect">
            <a:avLst/>
          </a:prstGeom>
          <a:noFill/>
          <a:ln/>
        </p:spPr>
        <p:txBody>
          <a:bodyPr wrap="square"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$295B+</a:t>
            </a:r>
            <a:endParaRPr lang="en-US" sz="1400" dirty="0"/>
          </a:p>
        </p:txBody>
      </p:sp>
      <p:sp>
        <p:nvSpPr>
          <p:cNvPr id="25" name="Text 23"/>
          <p:cNvSpPr/>
          <p:nvPr/>
        </p:nvSpPr>
        <p:spPr>
          <a:xfrm>
            <a:off x="4572000" y="4727448"/>
            <a:ext cx="1920240" cy="22860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Funding in 2022</a:t>
            </a:r>
            <a:endParaRPr lang="en-US" sz="900" dirty="0"/>
          </a:p>
        </p:txBody>
      </p:sp>
      <p:sp>
        <p:nvSpPr>
          <p:cNvPr id="26" name="Shape 24"/>
          <p:cNvSpPr/>
          <p:nvPr/>
        </p:nvSpPr>
        <p:spPr>
          <a:xfrm>
            <a:off x="6675120" y="4434840"/>
            <a:ext cx="1920240" cy="548640"/>
          </a:xfrm>
          <a:prstGeom prst="rect">
            <a:avLst/>
          </a:prstGeom>
          <a:solidFill>
            <a:srgbClr val="E2EBF3"/>
          </a:solidFill>
          <a:ln w="12700">
            <a:solidFill>
              <a:srgbClr val="1C7293"/>
            </a:solidFill>
            <a:prstDash val="solid"/>
          </a:ln>
        </p:spPr>
      </p:sp>
      <p:sp>
        <p:nvSpPr>
          <p:cNvPr id="27" name="Text 25"/>
          <p:cNvSpPr/>
          <p:nvPr/>
        </p:nvSpPr>
        <p:spPr>
          <a:xfrm>
            <a:off x="6675120" y="4434840"/>
            <a:ext cx="1920240" cy="320040"/>
          </a:xfrm>
          <a:prstGeom prst="rect">
            <a:avLst/>
          </a:prstGeom>
          <a:noFill/>
          <a:ln/>
        </p:spPr>
        <p:txBody>
          <a:bodyPr wrap="square"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100+</a:t>
            </a:r>
            <a:endParaRPr lang="en-US" sz="1400" dirty="0"/>
          </a:p>
        </p:txBody>
      </p:sp>
      <p:sp>
        <p:nvSpPr>
          <p:cNvPr id="28" name="Text 26"/>
          <p:cNvSpPr/>
          <p:nvPr/>
        </p:nvSpPr>
        <p:spPr>
          <a:xfrm>
            <a:off x="6675120" y="4727448"/>
            <a:ext cx="1920240" cy="22860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Diseases w/ Mortality Data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02  Dataset Overview &amp; Methodology</a:t>
            </a:r>
            <a:endParaRPr lang="en-US" sz="1800" dirty="0"/>
          </a:p>
        </p:txBody>
      </p:sp>
      <p:sp>
        <p:nvSpPr>
          <p:cNvPr id="4" name="Shape 2"/>
          <p:cNvSpPr/>
          <p:nvPr/>
        </p:nvSpPr>
        <p:spPr>
          <a:xfrm>
            <a:off x="274320" y="777240"/>
            <a:ext cx="4114800" cy="4160520"/>
          </a:xfrm>
          <a:prstGeom prst="rect">
            <a:avLst/>
          </a:prstGeom>
          <a:solidFill>
            <a:srgbClr val="FFFFFF"/>
          </a:solidFill>
          <a:ln w="12700">
            <a:solidFill>
              <a:srgbClr val="E2EBF3"/>
            </a:solidFill>
            <a:prstDash val="solid"/>
          </a:ln>
        </p:spPr>
      </p:sp>
      <p:sp>
        <p:nvSpPr>
          <p:cNvPr id="5" name="Text 3"/>
          <p:cNvSpPr/>
          <p:nvPr/>
        </p:nvSpPr>
        <p:spPr>
          <a:xfrm>
            <a:off x="365760" y="841248"/>
            <a:ext cx="3931920" cy="347472"/>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Dataset Structure</a:t>
            </a:r>
            <a:endParaRPr lang="en-US" sz="1300" dirty="0"/>
          </a:p>
        </p:txBody>
      </p:sp>
      <p:sp>
        <p:nvSpPr>
          <p:cNvPr id="6" name="Shape 4"/>
          <p:cNvSpPr/>
          <p:nvPr/>
        </p:nvSpPr>
        <p:spPr>
          <a:xfrm>
            <a:off x="365760" y="1280160"/>
            <a:ext cx="73152" cy="347472"/>
          </a:xfrm>
          <a:prstGeom prst="rect">
            <a:avLst/>
          </a:prstGeom>
          <a:solidFill>
            <a:srgbClr val="02C39A"/>
          </a:solidFill>
          <a:ln w="12700">
            <a:solidFill>
              <a:srgbClr val="02C39A"/>
            </a:solidFill>
            <a:prstDash val="solid"/>
          </a:ln>
        </p:spPr>
      </p:sp>
      <p:sp>
        <p:nvSpPr>
          <p:cNvPr id="7" name="Text 5"/>
          <p:cNvSpPr/>
          <p:nvPr/>
        </p:nvSpPr>
        <p:spPr>
          <a:xfrm>
            <a:off x="502920" y="1280160"/>
            <a:ext cx="3749040" cy="201168"/>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Research/Disease Area</a:t>
            </a:r>
            <a:endParaRPr lang="en-US" sz="1000" dirty="0"/>
          </a:p>
        </p:txBody>
      </p:sp>
      <p:sp>
        <p:nvSpPr>
          <p:cNvPr id="8" name="Text 6"/>
          <p:cNvSpPr/>
          <p:nvPr/>
        </p:nvSpPr>
        <p:spPr>
          <a:xfrm>
            <a:off x="502920" y="1463040"/>
            <a:ext cx="3749040" cy="2011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Name of the research or disease category</a:t>
            </a:r>
            <a:endParaRPr lang="en-US" sz="900" dirty="0"/>
          </a:p>
        </p:txBody>
      </p:sp>
      <p:sp>
        <p:nvSpPr>
          <p:cNvPr id="9" name="Shape 7"/>
          <p:cNvSpPr/>
          <p:nvPr/>
        </p:nvSpPr>
        <p:spPr>
          <a:xfrm>
            <a:off x="365760" y="1828800"/>
            <a:ext cx="73152" cy="347472"/>
          </a:xfrm>
          <a:prstGeom prst="rect">
            <a:avLst/>
          </a:prstGeom>
          <a:solidFill>
            <a:srgbClr val="02C39A"/>
          </a:solidFill>
          <a:ln w="12700">
            <a:solidFill>
              <a:srgbClr val="02C39A"/>
            </a:solidFill>
            <a:prstDash val="solid"/>
          </a:ln>
        </p:spPr>
      </p:sp>
      <p:sp>
        <p:nvSpPr>
          <p:cNvPr id="10" name="Text 8"/>
          <p:cNvSpPr/>
          <p:nvPr/>
        </p:nvSpPr>
        <p:spPr>
          <a:xfrm>
            <a:off x="502920" y="1828800"/>
            <a:ext cx="3749040" cy="201168"/>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2008 – 2022 Funding</a:t>
            </a:r>
            <a:endParaRPr lang="en-US" sz="1000" dirty="0"/>
          </a:p>
        </p:txBody>
      </p:sp>
      <p:sp>
        <p:nvSpPr>
          <p:cNvPr id="11" name="Text 9"/>
          <p:cNvSpPr/>
          <p:nvPr/>
        </p:nvSpPr>
        <p:spPr>
          <a:xfrm>
            <a:off x="502920" y="2011680"/>
            <a:ext cx="3749040" cy="2011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Annual NIH funding in millions USD</a:t>
            </a:r>
            <a:endParaRPr lang="en-US" sz="900" dirty="0"/>
          </a:p>
        </p:txBody>
      </p:sp>
      <p:sp>
        <p:nvSpPr>
          <p:cNvPr id="12" name="Shape 10"/>
          <p:cNvSpPr/>
          <p:nvPr/>
        </p:nvSpPr>
        <p:spPr>
          <a:xfrm>
            <a:off x="365760" y="2377440"/>
            <a:ext cx="73152" cy="347472"/>
          </a:xfrm>
          <a:prstGeom prst="rect">
            <a:avLst/>
          </a:prstGeom>
          <a:solidFill>
            <a:srgbClr val="02C39A"/>
          </a:solidFill>
          <a:ln w="12700">
            <a:solidFill>
              <a:srgbClr val="02C39A"/>
            </a:solidFill>
            <a:prstDash val="solid"/>
          </a:ln>
        </p:spPr>
      </p:sp>
      <p:sp>
        <p:nvSpPr>
          <p:cNvPr id="13" name="Text 11"/>
          <p:cNvSpPr/>
          <p:nvPr/>
        </p:nvSpPr>
        <p:spPr>
          <a:xfrm>
            <a:off x="502920" y="2377440"/>
            <a:ext cx="3749040" cy="201168"/>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2009 ARRA / 2010 ARRA</a:t>
            </a:r>
            <a:endParaRPr lang="en-US" sz="1000" dirty="0"/>
          </a:p>
        </p:txBody>
      </p:sp>
      <p:sp>
        <p:nvSpPr>
          <p:cNvPr id="14" name="Text 12"/>
          <p:cNvSpPr/>
          <p:nvPr/>
        </p:nvSpPr>
        <p:spPr>
          <a:xfrm>
            <a:off x="502920" y="2560320"/>
            <a:ext cx="3749040" cy="2011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American Recovery &amp; Reinvestment Act extras</a:t>
            </a:r>
            <a:endParaRPr lang="en-US" sz="900" dirty="0"/>
          </a:p>
        </p:txBody>
      </p:sp>
      <p:sp>
        <p:nvSpPr>
          <p:cNvPr id="15" name="Shape 13"/>
          <p:cNvSpPr/>
          <p:nvPr/>
        </p:nvSpPr>
        <p:spPr>
          <a:xfrm>
            <a:off x="365760" y="2926080"/>
            <a:ext cx="73152" cy="347472"/>
          </a:xfrm>
          <a:prstGeom prst="rect">
            <a:avLst/>
          </a:prstGeom>
          <a:solidFill>
            <a:srgbClr val="02C39A"/>
          </a:solidFill>
          <a:ln w="12700">
            <a:solidFill>
              <a:srgbClr val="02C39A"/>
            </a:solidFill>
            <a:prstDash val="solid"/>
          </a:ln>
        </p:spPr>
      </p:sp>
      <p:sp>
        <p:nvSpPr>
          <p:cNvPr id="16" name="Text 14"/>
          <p:cNvSpPr/>
          <p:nvPr/>
        </p:nvSpPr>
        <p:spPr>
          <a:xfrm>
            <a:off x="502920" y="2926080"/>
            <a:ext cx="3749040" cy="201168"/>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2023 &amp; 2024 Estimated</a:t>
            </a:r>
            <a:endParaRPr lang="en-US" sz="1000" dirty="0"/>
          </a:p>
        </p:txBody>
      </p:sp>
      <p:sp>
        <p:nvSpPr>
          <p:cNvPr id="17" name="Text 15"/>
          <p:cNvSpPr/>
          <p:nvPr/>
        </p:nvSpPr>
        <p:spPr>
          <a:xfrm>
            <a:off x="502920" y="3108960"/>
            <a:ext cx="3749040" cy="2011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Forward-looking projected funding</a:t>
            </a:r>
            <a:endParaRPr lang="en-US" sz="900" dirty="0"/>
          </a:p>
        </p:txBody>
      </p:sp>
      <p:sp>
        <p:nvSpPr>
          <p:cNvPr id="18" name="Shape 16"/>
          <p:cNvSpPr/>
          <p:nvPr/>
        </p:nvSpPr>
        <p:spPr>
          <a:xfrm>
            <a:off x="365760" y="3474720"/>
            <a:ext cx="73152" cy="347472"/>
          </a:xfrm>
          <a:prstGeom prst="rect">
            <a:avLst/>
          </a:prstGeom>
          <a:solidFill>
            <a:srgbClr val="02C39A"/>
          </a:solidFill>
          <a:ln w="12700">
            <a:solidFill>
              <a:srgbClr val="02C39A"/>
            </a:solidFill>
            <a:prstDash val="solid"/>
          </a:ln>
        </p:spPr>
      </p:sp>
      <p:sp>
        <p:nvSpPr>
          <p:cNvPr id="19" name="Text 17"/>
          <p:cNvSpPr/>
          <p:nvPr/>
        </p:nvSpPr>
        <p:spPr>
          <a:xfrm>
            <a:off x="502920" y="3474720"/>
            <a:ext cx="3749040" cy="201168"/>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2019 US Mortality</a:t>
            </a:r>
            <a:endParaRPr lang="en-US" sz="1000" dirty="0"/>
          </a:p>
        </p:txBody>
      </p:sp>
      <p:sp>
        <p:nvSpPr>
          <p:cNvPr id="20" name="Text 18"/>
          <p:cNvSpPr/>
          <p:nvPr/>
        </p:nvSpPr>
        <p:spPr>
          <a:xfrm>
            <a:off x="502920" y="3657600"/>
            <a:ext cx="3749040" cy="2011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Death count attributable to that condition</a:t>
            </a:r>
            <a:endParaRPr lang="en-US" sz="900" dirty="0"/>
          </a:p>
        </p:txBody>
      </p:sp>
      <p:sp>
        <p:nvSpPr>
          <p:cNvPr id="21" name="Shape 19"/>
          <p:cNvSpPr/>
          <p:nvPr/>
        </p:nvSpPr>
        <p:spPr>
          <a:xfrm>
            <a:off x="365760" y="4023360"/>
            <a:ext cx="73152" cy="347472"/>
          </a:xfrm>
          <a:prstGeom prst="rect">
            <a:avLst/>
          </a:prstGeom>
          <a:solidFill>
            <a:srgbClr val="02C39A"/>
          </a:solidFill>
          <a:ln w="12700">
            <a:solidFill>
              <a:srgbClr val="02C39A"/>
            </a:solidFill>
            <a:prstDash val="solid"/>
          </a:ln>
        </p:spPr>
      </p:sp>
      <p:sp>
        <p:nvSpPr>
          <p:cNvPr id="22" name="Text 20"/>
          <p:cNvSpPr/>
          <p:nvPr/>
        </p:nvSpPr>
        <p:spPr>
          <a:xfrm>
            <a:off x="502920" y="4023360"/>
            <a:ext cx="3749040" cy="201168"/>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2019 US Prevalence</a:t>
            </a:r>
            <a:endParaRPr lang="en-US" sz="1000" dirty="0"/>
          </a:p>
        </p:txBody>
      </p:sp>
      <p:sp>
        <p:nvSpPr>
          <p:cNvPr id="23" name="Text 21"/>
          <p:cNvSpPr/>
          <p:nvPr/>
        </p:nvSpPr>
        <p:spPr>
          <a:xfrm>
            <a:off x="502920" y="4206240"/>
            <a:ext cx="3749040" cy="2011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Population affected (where available)</a:t>
            </a:r>
            <a:endParaRPr lang="en-US" sz="900" dirty="0"/>
          </a:p>
        </p:txBody>
      </p:sp>
      <p:sp>
        <p:nvSpPr>
          <p:cNvPr id="24" name="Shape 22"/>
          <p:cNvSpPr/>
          <p:nvPr/>
        </p:nvSpPr>
        <p:spPr>
          <a:xfrm>
            <a:off x="4754880" y="777240"/>
            <a:ext cx="4114800" cy="4160520"/>
          </a:xfrm>
          <a:prstGeom prst="rect">
            <a:avLst/>
          </a:prstGeom>
          <a:solidFill>
            <a:srgbClr val="FFFFFF"/>
          </a:solidFill>
          <a:ln w="12700">
            <a:solidFill>
              <a:srgbClr val="E2EBF3"/>
            </a:solidFill>
            <a:prstDash val="solid"/>
          </a:ln>
        </p:spPr>
      </p:sp>
      <p:sp>
        <p:nvSpPr>
          <p:cNvPr id="25" name="Text 23"/>
          <p:cNvSpPr/>
          <p:nvPr/>
        </p:nvSpPr>
        <p:spPr>
          <a:xfrm>
            <a:off x="4846320" y="841248"/>
            <a:ext cx="3931920" cy="347472"/>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My Approach</a:t>
            </a:r>
            <a:endParaRPr lang="en-US" sz="1300" dirty="0"/>
          </a:p>
        </p:txBody>
      </p:sp>
      <p:sp>
        <p:nvSpPr>
          <p:cNvPr id="26" name="Shape 24"/>
          <p:cNvSpPr/>
          <p:nvPr/>
        </p:nvSpPr>
        <p:spPr>
          <a:xfrm>
            <a:off x="4846320" y="1261872"/>
            <a:ext cx="320040" cy="320040"/>
          </a:xfrm>
          <a:prstGeom prst="ellipse">
            <a:avLst/>
          </a:prstGeom>
          <a:solidFill>
            <a:srgbClr val="1C7293"/>
          </a:solidFill>
          <a:ln w="12700">
            <a:solidFill>
              <a:srgbClr val="1C7293"/>
            </a:solidFill>
            <a:prstDash val="solid"/>
          </a:ln>
        </p:spPr>
      </p:sp>
      <p:sp>
        <p:nvSpPr>
          <p:cNvPr id="27" name="Text 25"/>
          <p:cNvSpPr/>
          <p:nvPr/>
        </p:nvSpPr>
        <p:spPr>
          <a:xfrm>
            <a:off x="4846320" y="1261872"/>
            <a:ext cx="32004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8" name="Text 26"/>
          <p:cNvSpPr/>
          <p:nvPr/>
        </p:nvSpPr>
        <p:spPr>
          <a:xfrm>
            <a:off x="5257800" y="1261872"/>
            <a:ext cx="3474720" cy="182880"/>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Data Cleaning</a:t>
            </a:r>
            <a:endParaRPr lang="en-US" sz="1000" dirty="0"/>
          </a:p>
        </p:txBody>
      </p:sp>
      <p:sp>
        <p:nvSpPr>
          <p:cNvPr id="29" name="Text 27"/>
          <p:cNvSpPr/>
          <p:nvPr/>
        </p:nvSpPr>
        <p:spPr>
          <a:xfrm>
            <a:off x="5257800" y="1435608"/>
            <a:ext cx="3474720"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Replaced '+' and '-' placeholders with nulls. Standardised numeric columns and removed footnote rows.</a:t>
            </a:r>
            <a:endParaRPr lang="en-US" sz="850" dirty="0"/>
          </a:p>
        </p:txBody>
      </p:sp>
      <p:sp>
        <p:nvSpPr>
          <p:cNvPr id="30" name="Shape 28"/>
          <p:cNvSpPr/>
          <p:nvPr/>
        </p:nvSpPr>
        <p:spPr>
          <a:xfrm>
            <a:off x="4846320" y="1920240"/>
            <a:ext cx="320040" cy="320040"/>
          </a:xfrm>
          <a:prstGeom prst="ellipse">
            <a:avLst/>
          </a:prstGeom>
          <a:solidFill>
            <a:srgbClr val="1C7293"/>
          </a:solidFill>
          <a:ln w="12700">
            <a:solidFill>
              <a:srgbClr val="1C7293"/>
            </a:solidFill>
            <a:prstDash val="solid"/>
          </a:ln>
        </p:spPr>
      </p:sp>
      <p:sp>
        <p:nvSpPr>
          <p:cNvPr id="31" name="Text 29"/>
          <p:cNvSpPr/>
          <p:nvPr/>
        </p:nvSpPr>
        <p:spPr>
          <a:xfrm>
            <a:off x="4846320" y="1920240"/>
            <a:ext cx="32004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2" name="Text 30"/>
          <p:cNvSpPr/>
          <p:nvPr/>
        </p:nvSpPr>
        <p:spPr>
          <a:xfrm>
            <a:off x="5257800" y="1920240"/>
            <a:ext cx="3474720" cy="182880"/>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Unpivoting / Reshaping</a:t>
            </a:r>
            <a:endParaRPr lang="en-US" sz="1000" dirty="0"/>
          </a:p>
        </p:txBody>
      </p:sp>
      <p:sp>
        <p:nvSpPr>
          <p:cNvPr id="33" name="Text 31"/>
          <p:cNvSpPr/>
          <p:nvPr/>
        </p:nvSpPr>
        <p:spPr>
          <a:xfrm>
            <a:off x="5257800" y="2093976"/>
            <a:ext cx="3474720"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Pivoted year columns into a long format for time-series analysis in Tableau.</a:t>
            </a:r>
            <a:endParaRPr lang="en-US" sz="850" dirty="0"/>
          </a:p>
        </p:txBody>
      </p:sp>
      <p:sp>
        <p:nvSpPr>
          <p:cNvPr id="34" name="Shape 32"/>
          <p:cNvSpPr/>
          <p:nvPr/>
        </p:nvSpPr>
        <p:spPr>
          <a:xfrm>
            <a:off x="4846320" y="2578608"/>
            <a:ext cx="320040" cy="320040"/>
          </a:xfrm>
          <a:prstGeom prst="ellipse">
            <a:avLst/>
          </a:prstGeom>
          <a:solidFill>
            <a:srgbClr val="1C7293"/>
          </a:solidFill>
          <a:ln w="12700">
            <a:solidFill>
              <a:srgbClr val="1C7293"/>
            </a:solidFill>
            <a:prstDash val="solid"/>
          </a:ln>
        </p:spPr>
      </p:sp>
      <p:sp>
        <p:nvSpPr>
          <p:cNvPr id="35" name="Text 33"/>
          <p:cNvSpPr/>
          <p:nvPr/>
        </p:nvSpPr>
        <p:spPr>
          <a:xfrm>
            <a:off x="4846320" y="2578608"/>
            <a:ext cx="32004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4"/>
          <p:cNvSpPr/>
          <p:nvPr/>
        </p:nvSpPr>
        <p:spPr>
          <a:xfrm>
            <a:off x="5257800" y="2578608"/>
            <a:ext cx="3474720" cy="182880"/>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Calculated Fields</a:t>
            </a:r>
            <a:endParaRPr lang="en-US" sz="1000" dirty="0"/>
          </a:p>
        </p:txBody>
      </p:sp>
      <p:sp>
        <p:nvSpPr>
          <p:cNvPr id="37" name="Text 35"/>
          <p:cNvSpPr/>
          <p:nvPr/>
        </p:nvSpPr>
        <p:spPr>
          <a:xfrm>
            <a:off x="5257800" y="2752344"/>
            <a:ext cx="3474720"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Built INDEX, RANK, RUNNING_SUM, WINDOW_SUM fields plus string/boolean helpers.</a:t>
            </a:r>
            <a:endParaRPr lang="en-US" sz="850" dirty="0"/>
          </a:p>
        </p:txBody>
      </p:sp>
      <p:sp>
        <p:nvSpPr>
          <p:cNvPr id="38" name="Shape 36"/>
          <p:cNvSpPr/>
          <p:nvPr/>
        </p:nvSpPr>
        <p:spPr>
          <a:xfrm>
            <a:off x="4846320" y="3236976"/>
            <a:ext cx="320040" cy="320040"/>
          </a:xfrm>
          <a:prstGeom prst="ellipse">
            <a:avLst/>
          </a:prstGeom>
          <a:solidFill>
            <a:srgbClr val="1C7293"/>
          </a:solidFill>
          <a:ln w="12700">
            <a:solidFill>
              <a:srgbClr val="1C7293"/>
            </a:solidFill>
            <a:prstDash val="solid"/>
          </a:ln>
        </p:spPr>
      </p:sp>
      <p:sp>
        <p:nvSpPr>
          <p:cNvPr id="39" name="Text 37"/>
          <p:cNvSpPr/>
          <p:nvPr/>
        </p:nvSpPr>
        <p:spPr>
          <a:xfrm>
            <a:off x="4846320" y="3236976"/>
            <a:ext cx="32004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0" name="Text 38"/>
          <p:cNvSpPr/>
          <p:nvPr/>
        </p:nvSpPr>
        <p:spPr>
          <a:xfrm>
            <a:off x="5257800" y="3236976"/>
            <a:ext cx="3474720" cy="182880"/>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Visualizations</a:t>
            </a:r>
            <a:endParaRPr lang="en-US" sz="1000" dirty="0"/>
          </a:p>
        </p:txBody>
      </p:sp>
      <p:sp>
        <p:nvSpPr>
          <p:cNvPr id="41" name="Text 39"/>
          <p:cNvSpPr/>
          <p:nvPr/>
        </p:nvSpPr>
        <p:spPr>
          <a:xfrm>
            <a:off x="5257800" y="3410712"/>
            <a:ext cx="3474720"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Created 10+ chart types covering trends, comparisons, hierarchies and correlations.</a:t>
            </a:r>
            <a:endParaRPr lang="en-US" sz="850" dirty="0"/>
          </a:p>
        </p:txBody>
      </p:sp>
      <p:sp>
        <p:nvSpPr>
          <p:cNvPr id="42" name="Shape 40"/>
          <p:cNvSpPr/>
          <p:nvPr/>
        </p:nvSpPr>
        <p:spPr>
          <a:xfrm>
            <a:off x="4846320" y="3895344"/>
            <a:ext cx="320040" cy="320040"/>
          </a:xfrm>
          <a:prstGeom prst="ellipse">
            <a:avLst/>
          </a:prstGeom>
          <a:solidFill>
            <a:srgbClr val="1C7293"/>
          </a:solidFill>
          <a:ln w="12700">
            <a:solidFill>
              <a:srgbClr val="1C7293"/>
            </a:solidFill>
            <a:prstDash val="solid"/>
          </a:ln>
        </p:spPr>
      </p:sp>
      <p:sp>
        <p:nvSpPr>
          <p:cNvPr id="43" name="Text 41"/>
          <p:cNvSpPr/>
          <p:nvPr/>
        </p:nvSpPr>
        <p:spPr>
          <a:xfrm>
            <a:off x="4846320" y="3895344"/>
            <a:ext cx="32004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4" name="Text 42"/>
          <p:cNvSpPr/>
          <p:nvPr/>
        </p:nvSpPr>
        <p:spPr>
          <a:xfrm>
            <a:off x="5257800" y="3895344"/>
            <a:ext cx="3474720" cy="182880"/>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Dashboard Assembly</a:t>
            </a:r>
            <a:endParaRPr lang="en-US" sz="1000" dirty="0"/>
          </a:p>
        </p:txBody>
      </p:sp>
      <p:sp>
        <p:nvSpPr>
          <p:cNvPr id="45" name="Text 43"/>
          <p:cNvSpPr/>
          <p:nvPr/>
        </p:nvSpPr>
        <p:spPr>
          <a:xfrm>
            <a:off x="5257800" y="4069080"/>
            <a:ext cx="3474720"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Combined all sheets into an interactive Tableau dashboard with filters and tooltips.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65A82"/>
          </a:solidFill>
          <a:ln w="12700">
            <a:solidFill>
              <a:srgbClr val="065A82"/>
            </a:solidFill>
            <a:prstDash val="solid"/>
          </a:ln>
        </p:spPr>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03  Key Finding — Funding Trends Over Time</a:t>
            </a:r>
            <a:endParaRPr lang="en-US" sz="1800" dirty="0"/>
          </a:p>
        </p:txBody>
      </p:sp>
      <p:graphicFrame>
        <p:nvGraphicFramePr>
          <p:cNvPr id="4" name="Chart 0"/>
          <p:cNvGraphicFramePr/>
          <p:nvPr/>
        </p:nvGraphicFramePr>
        <p:xfrm>
          <a:off x="274320" y="77724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777240"/>
            <a:ext cx="2926080" cy="3566160"/>
          </a:xfrm>
          <a:prstGeom prst="rect">
            <a:avLst/>
          </a:prstGeom>
          <a:solidFill>
            <a:srgbClr val="065A82"/>
          </a:solidFill>
          <a:ln w="12700">
            <a:solidFill>
              <a:srgbClr val="065A82"/>
            </a:solidFill>
            <a:prstDash val="solid"/>
          </a:ln>
        </p:spPr>
      </p:sp>
      <p:sp>
        <p:nvSpPr>
          <p:cNvPr id="6" name="Text 3"/>
          <p:cNvSpPr/>
          <p:nvPr/>
        </p:nvSpPr>
        <p:spPr>
          <a:xfrm>
            <a:off x="6035040" y="868680"/>
            <a:ext cx="2743200" cy="320040"/>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What I found</a:t>
            </a:r>
            <a:endParaRPr lang="en-US" sz="1100" dirty="0"/>
          </a:p>
        </p:txBody>
      </p:sp>
      <p:sp>
        <p:nvSpPr>
          <p:cNvPr id="7" name="Shape 4"/>
          <p:cNvSpPr/>
          <p:nvPr/>
        </p:nvSpPr>
        <p:spPr>
          <a:xfrm>
            <a:off x="6035040" y="1298448"/>
            <a:ext cx="201168" cy="201168"/>
          </a:xfrm>
          <a:prstGeom prst="ellipse">
            <a:avLst/>
          </a:prstGeom>
          <a:solidFill>
            <a:srgbClr val="02C39A"/>
          </a:solidFill>
          <a:ln w="12700">
            <a:solidFill>
              <a:srgbClr val="02C39A"/>
            </a:solidFill>
            <a:prstDash val="solid"/>
          </a:ln>
        </p:spPr>
      </p:sp>
      <p:sp>
        <p:nvSpPr>
          <p:cNvPr id="8" name="Text 5"/>
          <p:cNvSpPr/>
          <p:nvPr/>
        </p:nvSpPr>
        <p:spPr>
          <a:xfrm>
            <a:off x="6291072" y="1280160"/>
            <a:ext cx="2487168" cy="402336"/>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Overall NIH spending grew from $125.6B in 2008 to $295.9B in 2022 — a 135% increase.</a:t>
            </a:r>
            <a:endParaRPr lang="en-US" sz="900" dirty="0"/>
          </a:p>
        </p:txBody>
      </p:sp>
      <p:sp>
        <p:nvSpPr>
          <p:cNvPr id="9" name="Shape 6"/>
          <p:cNvSpPr/>
          <p:nvPr/>
        </p:nvSpPr>
        <p:spPr>
          <a:xfrm>
            <a:off x="6035040" y="1801368"/>
            <a:ext cx="201168" cy="201168"/>
          </a:xfrm>
          <a:prstGeom prst="ellipse">
            <a:avLst/>
          </a:prstGeom>
          <a:solidFill>
            <a:srgbClr val="02C39A"/>
          </a:solidFill>
          <a:ln w="12700">
            <a:solidFill>
              <a:srgbClr val="02C39A"/>
            </a:solidFill>
            <a:prstDash val="solid"/>
          </a:ln>
        </p:spPr>
      </p:sp>
      <p:sp>
        <p:nvSpPr>
          <p:cNvPr id="10" name="Text 7"/>
          <p:cNvSpPr/>
          <p:nvPr/>
        </p:nvSpPr>
        <p:spPr>
          <a:xfrm>
            <a:off x="6291072" y="1783080"/>
            <a:ext cx="2487168" cy="402336"/>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Clinical Research is by far the largest category, receiving $18B in 2022 alone.</a:t>
            </a:r>
            <a:endParaRPr lang="en-US" sz="900" dirty="0"/>
          </a:p>
        </p:txBody>
      </p:sp>
      <p:sp>
        <p:nvSpPr>
          <p:cNvPr id="11" name="Shape 8"/>
          <p:cNvSpPr/>
          <p:nvPr/>
        </p:nvSpPr>
        <p:spPr>
          <a:xfrm>
            <a:off x="6035040" y="2304288"/>
            <a:ext cx="201168" cy="201168"/>
          </a:xfrm>
          <a:prstGeom prst="ellipse">
            <a:avLst/>
          </a:prstGeom>
          <a:solidFill>
            <a:srgbClr val="02C39A"/>
          </a:solidFill>
          <a:ln w="12700">
            <a:solidFill>
              <a:srgbClr val="02C39A"/>
            </a:solidFill>
            <a:prstDash val="solid"/>
          </a:ln>
        </p:spPr>
      </p:sp>
      <p:sp>
        <p:nvSpPr>
          <p:cNvPr id="12" name="Text 9"/>
          <p:cNvSpPr/>
          <p:nvPr/>
        </p:nvSpPr>
        <p:spPr>
          <a:xfrm>
            <a:off x="6291072" y="2286000"/>
            <a:ext cx="2487168" cy="402336"/>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Genetics and Prevention both show strong upward trajectories, suggesting a policy shift toward preventive care.</a:t>
            </a:r>
            <a:endParaRPr lang="en-US" sz="900" dirty="0"/>
          </a:p>
        </p:txBody>
      </p:sp>
      <p:sp>
        <p:nvSpPr>
          <p:cNvPr id="13" name="Shape 10"/>
          <p:cNvSpPr/>
          <p:nvPr/>
        </p:nvSpPr>
        <p:spPr>
          <a:xfrm>
            <a:off x="6035040" y="2807208"/>
            <a:ext cx="201168" cy="201168"/>
          </a:xfrm>
          <a:prstGeom prst="ellipse">
            <a:avLst/>
          </a:prstGeom>
          <a:solidFill>
            <a:srgbClr val="02C39A"/>
          </a:solidFill>
          <a:ln w="12700">
            <a:solidFill>
              <a:srgbClr val="02C39A"/>
            </a:solidFill>
            <a:prstDash val="solid"/>
          </a:ln>
        </p:spPr>
      </p:sp>
      <p:sp>
        <p:nvSpPr>
          <p:cNvPr id="14" name="Text 11"/>
          <p:cNvSpPr/>
          <p:nvPr/>
        </p:nvSpPr>
        <p:spPr>
          <a:xfrm>
            <a:off x="6291072" y="2788920"/>
            <a:ext cx="2487168" cy="402336"/>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Dips in 2013 likely reflect sequestration-era budget cuts, which briefly stalled growth.</a:t>
            </a:r>
            <a:endParaRPr lang="en-US" sz="900" dirty="0"/>
          </a:p>
        </p:txBody>
      </p:sp>
      <p:sp>
        <p:nvSpPr>
          <p:cNvPr id="15" name="Shape 12"/>
          <p:cNvSpPr/>
          <p:nvPr/>
        </p:nvSpPr>
        <p:spPr>
          <a:xfrm>
            <a:off x="6035040" y="3310128"/>
            <a:ext cx="201168" cy="201168"/>
          </a:xfrm>
          <a:prstGeom prst="ellipse">
            <a:avLst/>
          </a:prstGeom>
          <a:solidFill>
            <a:srgbClr val="02C39A"/>
          </a:solidFill>
          <a:ln w="12700">
            <a:solidFill>
              <a:srgbClr val="02C39A"/>
            </a:solidFill>
            <a:prstDash val="solid"/>
          </a:ln>
        </p:spPr>
      </p:sp>
      <p:sp>
        <p:nvSpPr>
          <p:cNvPr id="16" name="Text 13"/>
          <p:cNvSpPr/>
          <p:nvPr/>
        </p:nvSpPr>
        <p:spPr>
          <a:xfrm>
            <a:off x="6291072" y="3291840"/>
            <a:ext cx="2487168" cy="402336"/>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Post-2015, spending accelerated sharply — possibly driven by Alzheimer's and cancer moonshot initiatives.</a:t>
            </a:r>
            <a:endParaRPr lang="en-US" sz="900" dirty="0"/>
          </a:p>
        </p:txBody>
      </p:sp>
      <p:sp>
        <p:nvSpPr>
          <p:cNvPr id="17" name="Text 14"/>
          <p:cNvSpPr/>
          <p:nvPr/>
        </p:nvSpPr>
        <p:spPr>
          <a:xfrm>
            <a:off x="274320" y="4526280"/>
            <a:ext cx="8595360" cy="27432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Visualization type: Single &amp; Dual Line Graphs, ideal for showing trends over time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04  Key Finding — Comparative Funding by Disease Area (2019)</a:t>
            </a:r>
            <a:endParaRPr lang="en-US" sz="1600" dirty="0"/>
          </a:p>
        </p:txBody>
      </p:sp>
      <p:graphicFrame>
        <p:nvGraphicFramePr>
          <p:cNvPr id="4" name="Chart 0"/>
          <p:cNvGraphicFramePr/>
          <p:nvPr/>
        </p:nvGraphicFramePr>
        <p:xfrm>
          <a:off x="274320" y="777240"/>
          <a:ext cx="54864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777240"/>
            <a:ext cx="2926080" cy="1920240"/>
          </a:xfrm>
          <a:prstGeom prst="rect">
            <a:avLst/>
          </a:prstGeom>
          <a:solidFill>
            <a:srgbClr val="065A82"/>
          </a:solidFill>
          <a:ln w="12700">
            <a:solidFill>
              <a:srgbClr val="065A82"/>
            </a:solidFill>
            <a:prstDash val="solid"/>
          </a:ln>
        </p:spPr>
      </p:sp>
      <p:sp>
        <p:nvSpPr>
          <p:cNvPr id="6" name="Text 3"/>
          <p:cNvSpPr/>
          <p:nvPr/>
        </p:nvSpPr>
        <p:spPr>
          <a:xfrm>
            <a:off x="6035040" y="850392"/>
            <a:ext cx="2743200" cy="292608"/>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Standout Numbers</a:t>
            </a:r>
            <a:endParaRPr lang="en-US" sz="1000" dirty="0"/>
          </a:p>
        </p:txBody>
      </p:sp>
      <p:sp>
        <p:nvSpPr>
          <p:cNvPr id="7" name="Text 4"/>
          <p:cNvSpPr/>
          <p:nvPr/>
        </p:nvSpPr>
        <p:spPr>
          <a:xfrm>
            <a:off x="6035040" y="1207008"/>
            <a:ext cx="914400" cy="320040"/>
          </a:xfrm>
          <a:prstGeom prst="rect">
            <a:avLst/>
          </a:prstGeom>
          <a:noFill/>
          <a:ln/>
        </p:spPr>
        <p:txBody>
          <a:bodyPr wrap="square" rtlCol="0" anchor="ctr"/>
          <a:lstStyle/>
          <a:p>
            <a:pPr marL="0" indent="0">
              <a:buNone/>
            </a:pPr>
            <a:r>
              <a:rPr lang="en-US" sz="1600" b="1" dirty="0">
                <a:solidFill>
                  <a:srgbClr val="F9A825"/>
                </a:solidFill>
                <a:latin typeface="Calibri" pitchFamily="34" charset="0"/>
                <a:ea typeface="Calibri" pitchFamily="34" charset="-122"/>
                <a:cs typeface="Calibri" pitchFamily="34" charset="-120"/>
              </a:rPr>
              <a:t>$15.9B</a:t>
            </a:r>
            <a:endParaRPr lang="en-US" sz="1600" dirty="0"/>
          </a:p>
        </p:txBody>
      </p:sp>
      <p:sp>
        <p:nvSpPr>
          <p:cNvPr id="8" name="Text 5"/>
          <p:cNvSpPr/>
          <p:nvPr/>
        </p:nvSpPr>
        <p:spPr>
          <a:xfrm>
            <a:off x="6995160" y="1207008"/>
            <a:ext cx="1783080" cy="3200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Clinical Research leads all areas</a:t>
            </a:r>
            <a:endParaRPr lang="en-US" sz="900" dirty="0"/>
          </a:p>
        </p:txBody>
      </p:sp>
      <p:sp>
        <p:nvSpPr>
          <p:cNvPr id="9" name="Text 6"/>
          <p:cNvSpPr/>
          <p:nvPr/>
        </p:nvSpPr>
        <p:spPr>
          <a:xfrm>
            <a:off x="6035040" y="1664208"/>
            <a:ext cx="914400" cy="320040"/>
          </a:xfrm>
          <a:prstGeom prst="rect">
            <a:avLst/>
          </a:prstGeom>
          <a:noFill/>
          <a:ln/>
        </p:spPr>
        <p:txBody>
          <a:bodyPr wrap="square" rtlCol="0" anchor="ctr"/>
          <a:lstStyle/>
          <a:p>
            <a:pPr marL="0" indent="0">
              <a:buNone/>
            </a:pPr>
            <a:r>
              <a:rPr lang="en-US" sz="1600" b="1" dirty="0">
                <a:solidFill>
                  <a:srgbClr val="F9A825"/>
                </a:solidFill>
                <a:latin typeface="Calibri" pitchFamily="34" charset="0"/>
                <a:ea typeface="Calibri" pitchFamily="34" charset="-122"/>
                <a:cs typeface="Calibri" pitchFamily="34" charset="-120"/>
              </a:rPr>
              <a:t>2.5×</a:t>
            </a:r>
            <a:endParaRPr lang="en-US" sz="1600" dirty="0"/>
          </a:p>
        </p:txBody>
      </p:sp>
      <p:sp>
        <p:nvSpPr>
          <p:cNvPr id="10" name="Text 7"/>
          <p:cNvSpPr/>
          <p:nvPr/>
        </p:nvSpPr>
        <p:spPr>
          <a:xfrm>
            <a:off x="6995160" y="1664208"/>
            <a:ext cx="1783080" cy="3200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Gap between #1 and #2 funded area</a:t>
            </a:r>
            <a:endParaRPr lang="en-US" sz="900" dirty="0"/>
          </a:p>
        </p:txBody>
      </p:sp>
      <p:sp>
        <p:nvSpPr>
          <p:cNvPr id="11" name="Text 8"/>
          <p:cNvSpPr/>
          <p:nvPr/>
        </p:nvSpPr>
        <p:spPr>
          <a:xfrm>
            <a:off x="6035040" y="2121408"/>
            <a:ext cx="914400" cy="320040"/>
          </a:xfrm>
          <a:prstGeom prst="rect">
            <a:avLst/>
          </a:prstGeom>
          <a:noFill/>
          <a:ln/>
        </p:spPr>
        <p:txBody>
          <a:bodyPr wrap="square" rtlCol="0" anchor="ctr"/>
          <a:lstStyle/>
          <a:p>
            <a:pPr marL="0" indent="0">
              <a:buNone/>
            </a:pPr>
            <a:r>
              <a:rPr lang="en-US" sz="1600" b="1" dirty="0">
                <a:solidFill>
                  <a:srgbClr val="F9A825"/>
                </a:solidFill>
                <a:latin typeface="Calibri" pitchFamily="34" charset="0"/>
                <a:ea typeface="Calibri" pitchFamily="34" charset="-122"/>
                <a:cs typeface="Calibri" pitchFamily="34" charset="-120"/>
              </a:rPr>
              <a:t>$6.5B</a:t>
            </a:r>
            <a:endParaRPr lang="en-US" sz="1600" dirty="0"/>
          </a:p>
        </p:txBody>
      </p:sp>
      <p:sp>
        <p:nvSpPr>
          <p:cNvPr id="12" name="Text 9"/>
          <p:cNvSpPr/>
          <p:nvPr/>
        </p:nvSpPr>
        <p:spPr>
          <a:xfrm>
            <a:off x="6995160" y="2121408"/>
            <a:ext cx="1783080" cy="3200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Cancer still in top 7 despite being specific</a:t>
            </a:r>
            <a:endParaRPr lang="en-US" sz="900" dirty="0"/>
          </a:p>
        </p:txBody>
      </p:sp>
      <p:sp>
        <p:nvSpPr>
          <p:cNvPr id="13" name="Shape 10"/>
          <p:cNvSpPr/>
          <p:nvPr/>
        </p:nvSpPr>
        <p:spPr>
          <a:xfrm>
            <a:off x="5943600" y="2834640"/>
            <a:ext cx="2926080" cy="2057400"/>
          </a:xfrm>
          <a:prstGeom prst="rect">
            <a:avLst/>
          </a:prstGeom>
          <a:solidFill>
            <a:srgbClr val="FFFFFF"/>
          </a:solidFill>
          <a:ln w="12700">
            <a:solidFill>
              <a:srgbClr val="E2EBF3"/>
            </a:solidFill>
            <a:prstDash val="solid"/>
          </a:ln>
        </p:spPr>
      </p:sp>
      <p:sp>
        <p:nvSpPr>
          <p:cNvPr id="14" name="Text 11"/>
          <p:cNvSpPr/>
          <p:nvPr/>
        </p:nvSpPr>
        <p:spPr>
          <a:xfrm>
            <a:off x="6035040" y="2898648"/>
            <a:ext cx="2743200" cy="292608"/>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Analytical Approach</a:t>
            </a:r>
            <a:endParaRPr lang="en-US" sz="1000" dirty="0"/>
          </a:p>
        </p:txBody>
      </p:sp>
      <p:sp>
        <p:nvSpPr>
          <p:cNvPr id="15" name="Shape 12"/>
          <p:cNvSpPr/>
          <p:nvPr/>
        </p:nvSpPr>
        <p:spPr>
          <a:xfrm>
            <a:off x="6035040" y="3264408"/>
            <a:ext cx="64008" cy="292608"/>
          </a:xfrm>
          <a:prstGeom prst="rect">
            <a:avLst/>
          </a:prstGeom>
          <a:solidFill>
            <a:srgbClr val="1C7293"/>
          </a:solidFill>
          <a:ln w="12700">
            <a:solidFill>
              <a:srgbClr val="1C7293"/>
            </a:solidFill>
            <a:prstDash val="solid"/>
          </a:ln>
        </p:spPr>
      </p:sp>
      <p:sp>
        <p:nvSpPr>
          <p:cNvPr id="16" name="Text 13"/>
          <p:cNvSpPr/>
          <p:nvPr/>
        </p:nvSpPr>
        <p:spPr>
          <a:xfrm>
            <a:off x="6153912" y="3264408"/>
            <a:ext cx="2624328" cy="38404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Used RANK() calculated field to dynamically sort research areas</a:t>
            </a:r>
            <a:endParaRPr lang="en-US" sz="900" dirty="0"/>
          </a:p>
        </p:txBody>
      </p:sp>
      <p:sp>
        <p:nvSpPr>
          <p:cNvPr id="17" name="Shape 14"/>
          <p:cNvSpPr/>
          <p:nvPr/>
        </p:nvSpPr>
        <p:spPr>
          <a:xfrm>
            <a:off x="6035040" y="3785616"/>
            <a:ext cx="64008" cy="292608"/>
          </a:xfrm>
          <a:prstGeom prst="rect">
            <a:avLst/>
          </a:prstGeom>
          <a:solidFill>
            <a:srgbClr val="1C7293"/>
          </a:solidFill>
          <a:ln w="12700">
            <a:solidFill>
              <a:srgbClr val="1C7293"/>
            </a:solidFill>
            <a:prstDash val="solid"/>
          </a:ln>
        </p:spPr>
      </p:sp>
      <p:sp>
        <p:nvSpPr>
          <p:cNvPr id="18" name="Text 15"/>
          <p:cNvSpPr/>
          <p:nvPr/>
        </p:nvSpPr>
        <p:spPr>
          <a:xfrm>
            <a:off x="6153912" y="3785616"/>
            <a:ext cx="2624328" cy="38404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Applied year filters to compare any two years side-by-side</a:t>
            </a:r>
            <a:endParaRPr lang="en-US" sz="900" dirty="0"/>
          </a:p>
        </p:txBody>
      </p:sp>
      <p:sp>
        <p:nvSpPr>
          <p:cNvPr id="19" name="Shape 16"/>
          <p:cNvSpPr/>
          <p:nvPr/>
        </p:nvSpPr>
        <p:spPr>
          <a:xfrm>
            <a:off x="6035040" y="4306824"/>
            <a:ext cx="64008" cy="292608"/>
          </a:xfrm>
          <a:prstGeom prst="rect">
            <a:avLst/>
          </a:prstGeom>
          <a:solidFill>
            <a:srgbClr val="1C7293"/>
          </a:solidFill>
          <a:ln w="12700">
            <a:solidFill>
              <a:srgbClr val="1C7293"/>
            </a:solidFill>
            <a:prstDash val="solid"/>
          </a:ln>
        </p:spPr>
      </p:sp>
      <p:sp>
        <p:nvSpPr>
          <p:cNvPr id="20" name="Text 17"/>
          <p:cNvSpPr/>
          <p:nvPr/>
        </p:nvSpPr>
        <p:spPr>
          <a:xfrm>
            <a:off x="6153912" y="4306824"/>
            <a:ext cx="2624328" cy="38404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Stacked bar chart reveals combined funding across multi-year windows</a:t>
            </a:r>
            <a:endParaRPr lang="en-US" sz="900" dirty="0"/>
          </a:p>
        </p:txBody>
      </p:sp>
      <p:sp>
        <p:nvSpPr>
          <p:cNvPr id="21" name="Text 18"/>
          <p:cNvSpPr/>
          <p:nvPr/>
        </p:nvSpPr>
        <p:spPr>
          <a:xfrm>
            <a:off x="274320" y="4846320"/>
            <a:ext cx="8595360" cy="22860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Visualization type: Horizontal Bar Chart, Vertical Bar Chart, Stacked Bar Chart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65A82"/>
          </a:solidFill>
          <a:ln w="12700">
            <a:solidFill>
              <a:srgbClr val="065A82"/>
            </a:solidFill>
            <a:prstDash val="solid"/>
          </a:ln>
        </p:spPr>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05  Key Finding — Funding vs. 2019 US Mortality</a:t>
            </a:r>
            <a:endParaRPr lang="en-US" sz="1800" dirty="0"/>
          </a:p>
        </p:txBody>
      </p:sp>
      <p:graphicFrame>
        <p:nvGraphicFramePr>
          <p:cNvPr id="4" name="Chart 0"/>
          <p:cNvGraphicFramePr/>
          <p:nvPr/>
        </p:nvGraphicFramePr>
        <p:xfrm>
          <a:off x="274320" y="777240"/>
          <a:ext cx="54864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777240"/>
            <a:ext cx="2926080" cy="4114800"/>
          </a:xfrm>
          <a:prstGeom prst="rect">
            <a:avLst/>
          </a:prstGeom>
          <a:solidFill>
            <a:srgbClr val="FFFFFF"/>
          </a:solidFill>
          <a:ln w="12700">
            <a:solidFill>
              <a:srgbClr val="E2EBF3"/>
            </a:solidFill>
            <a:prstDash val="solid"/>
          </a:ln>
        </p:spPr>
      </p:sp>
      <p:sp>
        <p:nvSpPr>
          <p:cNvPr id="6" name="Text 3"/>
          <p:cNvSpPr/>
          <p:nvPr/>
        </p:nvSpPr>
        <p:spPr>
          <a:xfrm>
            <a:off x="6035040" y="868680"/>
            <a:ext cx="2743200" cy="292608"/>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Notable Patterns</a:t>
            </a:r>
            <a:endParaRPr lang="en-US" sz="1100" dirty="0"/>
          </a:p>
        </p:txBody>
      </p:sp>
      <p:sp>
        <p:nvSpPr>
          <p:cNvPr id="7" name="Shape 4"/>
          <p:cNvSpPr/>
          <p:nvPr/>
        </p:nvSpPr>
        <p:spPr>
          <a:xfrm>
            <a:off x="5989320" y="1234440"/>
            <a:ext cx="2834640" cy="777240"/>
          </a:xfrm>
          <a:prstGeom prst="rect">
            <a:avLst/>
          </a:prstGeom>
          <a:solidFill>
            <a:srgbClr val="FFF3CD"/>
          </a:solidFill>
          <a:ln w="12700">
            <a:solidFill>
              <a:srgbClr val="F9A825"/>
            </a:solidFill>
            <a:prstDash val="solid"/>
          </a:ln>
        </p:spPr>
      </p:sp>
      <p:sp>
        <p:nvSpPr>
          <p:cNvPr id="8" name="Text 5"/>
          <p:cNvSpPr/>
          <p:nvPr/>
        </p:nvSpPr>
        <p:spPr>
          <a:xfrm>
            <a:off x="6080760" y="1261872"/>
            <a:ext cx="2651760" cy="256032"/>
          </a:xfrm>
          <a:prstGeom prst="rect">
            <a:avLst/>
          </a:prstGeom>
          <a:noFill/>
          <a:ln/>
        </p:spPr>
        <p:txBody>
          <a:bodyPr wrap="square" rtlCol="0" anchor="ctr"/>
          <a:lstStyle/>
          <a:p>
            <a:pPr marL="0" indent="0">
              <a:buNone/>
            </a:pPr>
            <a:r>
              <a:rPr lang="en-US" sz="950" b="1" dirty="0">
                <a:solidFill>
                  <a:srgbClr val="7D5A00"/>
                </a:solidFill>
                <a:latin typeface="Calibri" pitchFamily="34" charset="0"/>
                <a:ea typeface="Calibri" pitchFamily="34" charset="-122"/>
                <a:cs typeface="Calibri" pitchFamily="34" charset="-120"/>
              </a:rPr>
              <a:t>⚠ Heart Disease Paradox</a:t>
            </a:r>
            <a:endParaRPr lang="en-US" sz="950" dirty="0"/>
          </a:p>
        </p:txBody>
      </p:sp>
      <p:sp>
        <p:nvSpPr>
          <p:cNvPr id="9" name="Text 6"/>
          <p:cNvSpPr/>
          <p:nvPr/>
        </p:nvSpPr>
        <p:spPr>
          <a:xfrm>
            <a:off x="6080760" y="1490472"/>
            <a:ext cx="2651760" cy="475488"/>
          </a:xfrm>
          <a:prstGeom prst="rect">
            <a:avLst/>
          </a:prstGeom>
          <a:noFill/>
          <a:ln/>
        </p:spPr>
        <p:txBody>
          <a:bodyPr wrap="square" rtlCol="0" anchor="ctr"/>
          <a:lstStyle/>
          <a:p>
            <a:pPr marL="0" indent="0">
              <a:buNone/>
            </a:pPr>
            <a:r>
              <a:rPr lang="en-US" sz="850" dirty="0">
                <a:solidFill>
                  <a:srgbClr val="7D5A00"/>
                </a:solidFill>
                <a:latin typeface="Calibri" pitchFamily="34" charset="0"/>
                <a:ea typeface="Calibri" pitchFamily="34" charset="-122"/>
                <a:cs typeface="Calibri" pitchFamily="34" charset="-120"/>
              </a:rPr>
              <a:t>Highest mortality (1.59M) but only $1.44B in funding — significantly underfunded relative to disease burden.</a:t>
            </a:r>
            <a:endParaRPr lang="en-US" sz="850" dirty="0"/>
          </a:p>
        </p:txBody>
      </p:sp>
      <p:sp>
        <p:nvSpPr>
          <p:cNvPr id="10" name="Shape 7"/>
          <p:cNvSpPr/>
          <p:nvPr/>
        </p:nvSpPr>
        <p:spPr>
          <a:xfrm>
            <a:off x="5989320" y="2084832"/>
            <a:ext cx="2834640" cy="777240"/>
          </a:xfrm>
          <a:prstGeom prst="rect">
            <a:avLst/>
          </a:prstGeom>
          <a:solidFill>
            <a:srgbClr val="D1FAE5"/>
          </a:solidFill>
          <a:ln w="12700">
            <a:solidFill>
              <a:srgbClr val="38A169"/>
            </a:solidFill>
            <a:prstDash val="solid"/>
          </a:ln>
        </p:spPr>
      </p:sp>
      <p:sp>
        <p:nvSpPr>
          <p:cNvPr id="11" name="Text 8"/>
          <p:cNvSpPr/>
          <p:nvPr/>
        </p:nvSpPr>
        <p:spPr>
          <a:xfrm>
            <a:off x="6080760" y="2112264"/>
            <a:ext cx="2651760" cy="256032"/>
          </a:xfrm>
          <a:prstGeom prst="rect">
            <a:avLst/>
          </a:prstGeom>
          <a:noFill/>
          <a:ln/>
        </p:spPr>
        <p:txBody>
          <a:bodyPr wrap="square" rtlCol="0" anchor="ctr"/>
          <a:lstStyle/>
          <a:p>
            <a:pPr marL="0" indent="0">
              <a:buNone/>
            </a:pPr>
            <a:r>
              <a:rPr lang="en-US" sz="950" b="1" dirty="0">
                <a:solidFill>
                  <a:srgbClr val="1A5C38"/>
                </a:solidFill>
                <a:latin typeface="Calibri" pitchFamily="34" charset="0"/>
                <a:ea typeface="Calibri" pitchFamily="34" charset="-122"/>
                <a:cs typeface="Calibri" pitchFamily="34" charset="-120"/>
              </a:rPr>
              <a:t>✓ Cancer Well-Funded</a:t>
            </a:r>
            <a:endParaRPr lang="en-US" sz="950" dirty="0"/>
          </a:p>
        </p:txBody>
      </p:sp>
      <p:sp>
        <p:nvSpPr>
          <p:cNvPr id="12" name="Text 9"/>
          <p:cNvSpPr/>
          <p:nvPr/>
        </p:nvSpPr>
        <p:spPr>
          <a:xfrm>
            <a:off x="6080760" y="2340864"/>
            <a:ext cx="2651760" cy="475488"/>
          </a:xfrm>
          <a:prstGeom prst="rect">
            <a:avLst/>
          </a:prstGeom>
          <a:noFill/>
          <a:ln/>
        </p:spPr>
        <p:txBody>
          <a:bodyPr wrap="square" rtlCol="0" anchor="ctr"/>
          <a:lstStyle/>
          <a:p>
            <a:pPr marL="0" indent="0">
              <a:buNone/>
            </a:pPr>
            <a:r>
              <a:rPr lang="en-US" sz="850" dirty="0">
                <a:solidFill>
                  <a:srgbClr val="1A5C38"/>
                </a:solidFill>
                <a:latin typeface="Calibri" pitchFamily="34" charset="0"/>
                <a:ea typeface="Calibri" pitchFamily="34" charset="-122"/>
                <a:cs typeface="Calibri" pitchFamily="34" charset="-120"/>
              </a:rPr>
              <a:t>Cancer receives $6.5B — the highest among specific diseases — aligning with its high mortality of 690K.</a:t>
            </a:r>
            <a:endParaRPr lang="en-US" sz="850" dirty="0"/>
          </a:p>
        </p:txBody>
      </p:sp>
      <p:sp>
        <p:nvSpPr>
          <p:cNvPr id="13" name="Shape 10"/>
          <p:cNvSpPr/>
          <p:nvPr/>
        </p:nvSpPr>
        <p:spPr>
          <a:xfrm>
            <a:off x="5989320" y="2935224"/>
            <a:ext cx="2834640" cy="777240"/>
          </a:xfrm>
          <a:prstGeom prst="rect">
            <a:avLst/>
          </a:prstGeom>
          <a:solidFill>
            <a:srgbClr val="EBF4FF"/>
          </a:solidFill>
          <a:ln w="12700">
            <a:solidFill>
              <a:srgbClr val="1C7293"/>
            </a:solidFill>
            <a:prstDash val="solid"/>
          </a:ln>
        </p:spPr>
      </p:sp>
      <p:sp>
        <p:nvSpPr>
          <p:cNvPr id="14" name="Text 11"/>
          <p:cNvSpPr/>
          <p:nvPr/>
        </p:nvSpPr>
        <p:spPr>
          <a:xfrm>
            <a:off x="6080760" y="2962656"/>
            <a:ext cx="2651760" cy="256032"/>
          </a:xfrm>
          <a:prstGeom prst="rect">
            <a:avLst/>
          </a:prstGeom>
          <a:noFill/>
          <a:ln/>
        </p:spPr>
        <p:txBody>
          <a:bodyPr wrap="square" rtlCol="0" anchor="ctr"/>
          <a:lstStyle/>
          <a:p>
            <a:pPr marL="0" indent="0">
              <a:buNone/>
            </a:pPr>
            <a:r>
              <a:rPr lang="en-US" sz="950" b="1" dirty="0">
                <a:solidFill>
                  <a:srgbClr val="0D4A6A"/>
                </a:solidFill>
                <a:latin typeface="Calibri" pitchFamily="34" charset="0"/>
                <a:ea typeface="Calibri" pitchFamily="34" charset="-122"/>
                <a:cs typeface="Calibri" pitchFamily="34" charset="-120"/>
              </a:rPr>
              <a:t>◈ HIV/AIDS: Research Priority</a:t>
            </a:r>
            <a:endParaRPr lang="en-US" sz="950" dirty="0"/>
          </a:p>
        </p:txBody>
      </p:sp>
      <p:sp>
        <p:nvSpPr>
          <p:cNvPr id="15" name="Text 12"/>
          <p:cNvSpPr/>
          <p:nvPr/>
        </p:nvSpPr>
        <p:spPr>
          <a:xfrm>
            <a:off x="6080760" y="3191256"/>
            <a:ext cx="2651760" cy="475488"/>
          </a:xfrm>
          <a:prstGeom prst="rect">
            <a:avLst/>
          </a:prstGeom>
          <a:noFill/>
          <a:ln/>
        </p:spPr>
        <p:txBody>
          <a:bodyPr wrap="square" rtlCol="0" anchor="ctr"/>
          <a:lstStyle/>
          <a:p>
            <a:pPr marL="0" indent="0">
              <a:buNone/>
            </a:pPr>
            <a:r>
              <a:rPr lang="en-US" sz="850" dirty="0">
                <a:solidFill>
                  <a:srgbClr val="0D4A6A"/>
                </a:solidFill>
                <a:latin typeface="Calibri" pitchFamily="34" charset="0"/>
                <a:ea typeface="Calibri" pitchFamily="34" charset="-122"/>
                <a:cs typeface="Calibri" pitchFamily="34" charset="-120"/>
              </a:rPr>
              <a:t>Receives $3.0B despite relatively low mortality — reflecting global priority and ongoing treatment research.</a:t>
            </a:r>
            <a:endParaRPr lang="en-US" sz="850" dirty="0"/>
          </a:p>
        </p:txBody>
      </p:sp>
      <p:sp>
        <p:nvSpPr>
          <p:cNvPr id="16" name="Text 13"/>
          <p:cNvSpPr/>
          <p:nvPr/>
        </p:nvSpPr>
        <p:spPr>
          <a:xfrm>
            <a:off x="6035040" y="3822192"/>
            <a:ext cx="2743200" cy="566928"/>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My interpretation: Funding decisions are shaped by more than mortality alone — advocacy, treatability and research complexity all play a role.</a:t>
            </a:r>
            <a:endParaRPr lang="en-US" sz="850" dirty="0"/>
          </a:p>
        </p:txBody>
      </p:sp>
      <p:sp>
        <p:nvSpPr>
          <p:cNvPr id="17" name="Text 14"/>
          <p:cNvSpPr/>
          <p:nvPr/>
        </p:nvSpPr>
        <p:spPr>
          <a:xfrm>
            <a:off x="274320" y="4434840"/>
            <a:ext cx="8595360" cy="256032"/>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Visualization type: Scatter Plot, ideal for identifying correlations between two continuous variables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06  Key Finding — Funding Distribution &amp; ARRA Impact</a:t>
            </a:r>
            <a:endParaRPr lang="en-US" sz="1600" dirty="0"/>
          </a:p>
        </p:txBody>
      </p:sp>
      <p:graphicFrame>
        <p:nvGraphicFramePr>
          <p:cNvPr id="4" name="Chart 0"/>
          <p:cNvGraphicFramePr/>
          <p:nvPr/>
        </p:nvGraphicFramePr>
        <p:xfrm>
          <a:off x="274320" y="777240"/>
          <a:ext cx="45720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120640" y="777240"/>
            <a:ext cx="3749040" cy="4114800"/>
          </a:xfrm>
          <a:prstGeom prst="rect">
            <a:avLst/>
          </a:prstGeom>
          <a:solidFill>
            <a:srgbClr val="FFFFFF"/>
          </a:solidFill>
          <a:ln w="12700">
            <a:solidFill>
              <a:srgbClr val="E2EBF3"/>
            </a:solidFill>
            <a:prstDash val="solid"/>
          </a:ln>
        </p:spPr>
      </p:sp>
      <p:sp>
        <p:nvSpPr>
          <p:cNvPr id="6" name="Text 3"/>
          <p:cNvSpPr/>
          <p:nvPr/>
        </p:nvSpPr>
        <p:spPr>
          <a:xfrm>
            <a:off x="5212080" y="868680"/>
            <a:ext cx="3566160" cy="365760"/>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ARRA Funding Impact (2009 &amp; 2010)</a:t>
            </a:r>
            <a:endParaRPr lang="en-US" sz="1100" dirty="0"/>
          </a:p>
        </p:txBody>
      </p:sp>
      <p:sp>
        <p:nvSpPr>
          <p:cNvPr id="7" name="Text 4"/>
          <p:cNvSpPr/>
          <p:nvPr/>
        </p:nvSpPr>
        <p:spPr>
          <a:xfrm>
            <a:off x="5212080" y="1298448"/>
            <a:ext cx="3566160" cy="7315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American Recovery and Reinvestment Act injected additional emergency funding into NIH research during 2009 and 2010. I explored this using Gantt charts to visualise the funding timelines.</a:t>
            </a:r>
            <a:endParaRPr lang="en-US" sz="950" dirty="0"/>
          </a:p>
        </p:txBody>
      </p:sp>
      <p:sp>
        <p:nvSpPr>
          <p:cNvPr id="8" name="Text 5"/>
          <p:cNvSpPr/>
          <p:nvPr/>
        </p:nvSpPr>
        <p:spPr>
          <a:xfrm>
            <a:off x="5212080" y="2103120"/>
            <a:ext cx="3566160" cy="274320"/>
          </a:xfrm>
          <a:prstGeom prst="rect">
            <a:avLst/>
          </a:prstGeom>
          <a:noFill/>
          <a:ln/>
        </p:spPr>
        <p:txBody>
          <a:bodyPr wrap="square" rtlCol="0" anchor="ctr"/>
          <a:lstStyle/>
          <a:p>
            <a:pPr marL="0" indent="0">
              <a:buNone/>
            </a:pPr>
            <a:r>
              <a:rPr lang="en-US" sz="900" b="1" dirty="0">
                <a:solidFill>
                  <a:srgbClr val="1C7293"/>
                </a:solidFill>
                <a:latin typeface="Calibri" pitchFamily="34" charset="0"/>
                <a:ea typeface="Calibri" pitchFamily="34" charset="-122"/>
                <a:cs typeface="Calibri" pitchFamily="34" charset="-120"/>
              </a:rPr>
              <a:t>Selected ARRA Allocations ($M)</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212080" y="2423160"/>
          <a:ext cx="3474720" cy="2011680"/>
        </p:xfrm>
        <a:graphic>
          <a:graphicData uri="http://schemas.openxmlformats.org/drawingml/2006/table">
            <a:tbl>
              <a:tblPr/>
              <a:tblGrid>
                <a:gridCol w="20116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35280">
                <a:tc>
                  <a:txBody>
                    <a:bodyPr/>
                    <a:lstStyle/>
                    <a:p>
                      <a:pPr marL="0" indent="0">
                        <a:buNone/>
                      </a:pPr>
                      <a:r>
                        <a:rPr lang="en-US" sz="800" b="1" dirty="0">
                          <a:solidFill>
                            <a:srgbClr val="FFFFFF"/>
                          </a:solidFill>
                        </a:rPr>
                        <a:t>Research Area</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065A82"/>
                    </a:solidFill>
                  </a:tcPr>
                </a:tc>
                <a:tc>
                  <a:txBody>
                    <a:bodyPr/>
                    <a:lstStyle/>
                    <a:p>
                      <a:pPr marL="0" indent="0" algn="ctr">
                        <a:buNone/>
                      </a:pPr>
                      <a:r>
                        <a:rPr lang="en-US" sz="800" b="1" dirty="0">
                          <a:solidFill>
                            <a:srgbClr val="FFFFFF"/>
                          </a:solidFill>
                        </a:rPr>
                        <a:t>2009 ARRA</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065A82"/>
                    </a:solidFill>
                  </a:tcPr>
                </a:tc>
                <a:tc>
                  <a:txBody>
                    <a:bodyPr/>
                    <a:lstStyle/>
                    <a:p>
                      <a:pPr marL="0" indent="0" algn="ctr">
                        <a:buNone/>
                      </a:pPr>
                      <a:r>
                        <a:rPr lang="en-US" sz="800" b="1" dirty="0">
                          <a:solidFill>
                            <a:srgbClr val="FFFFFF"/>
                          </a:solidFill>
                        </a:rPr>
                        <a:t>2010 ARRA</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35280">
                <a:tc>
                  <a:txBody>
                    <a:bodyPr/>
                    <a:lstStyle/>
                    <a:p>
                      <a:pPr marL="0" indent="0">
                        <a:buNone/>
                      </a:pPr>
                      <a:r>
                        <a:rPr lang="en-US" sz="800" dirty="0">
                          <a:solidFill>
                            <a:srgbClr val="0D1B2A"/>
                          </a:solidFill>
                        </a:rPr>
                        <a:t>Clinical Research</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7293"/>
                          </a:solidFill>
                        </a:rPr>
                        <a:t>1215</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7293"/>
                          </a:solidFill>
                        </a:rPr>
                        <a:t>929</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335280">
                <a:tc>
                  <a:txBody>
                    <a:bodyPr/>
                    <a:lstStyle/>
                    <a:p>
                      <a:pPr marL="0" indent="0">
                        <a:buNone/>
                      </a:pPr>
                      <a:r>
                        <a:rPr lang="en-US" sz="800" dirty="0">
                          <a:solidFill>
                            <a:srgbClr val="0D1B2A"/>
                          </a:solidFill>
                        </a:rPr>
                        <a:t>Genetics</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7293"/>
                          </a:solidFill>
                        </a:rPr>
                        <a:t>755</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7293"/>
                          </a:solidFill>
                        </a:rPr>
                        <a:t>611</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5280">
                <a:tc>
                  <a:txBody>
                    <a:bodyPr/>
                    <a:lstStyle/>
                    <a:p>
                      <a:pPr marL="0" indent="0">
                        <a:buNone/>
                      </a:pPr>
                      <a:r>
                        <a:rPr lang="en-US" sz="800" dirty="0">
                          <a:solidFill>
                            <a:srgbClr val="0D1B2A"/>
                          </a:solidFill>
                        </a:rPr>
                        <a:t>Aging</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7293"/>
                          </a:solidFill>
                        </a:rPr>
                        <a:t>554</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7293"/>
                          </a:solidFill>
                        </a:rPr>
                        <a:t>443</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4F8FB"/>
                    </a:solidFill>
                  </a:tcPr>
                </a:tc>
                <a:extLst>
                  <a:ext uri="{0D108BD9-81ED-4DB2-BD59-A6C34878D82A}">
                    <a16:rowId xmlns:a16="http://schemas.microsoft.com/office/drawing/2014/main" val="10003"/>
                  </a:ext>
                </a:extLst>
              </a:tr>
              <a:tr h="335280">
                <a:tc>
                  <a:txBody>
                    <a:bodyPr/>
                    <a:lstStyle/>
                    <a:p>
                      <a:pPr marL="0" indent="0">
                        <a:buNone/>
                      </a:pPr>
                      <a:r>
                        <a:rPr lang="en-US" sz="800" dirty="0">
                          <a:solidFill>
                            <a:srgbClr val="0D1B2A"/>
                          </a:solidFill>
                        </a:rPr>
                        <a:t>Prevention</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7293"/>
                          </a:solidFill>
                        </a:rPr>
                        <a:t>451</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7293"/>
                          </a:solidFill>
                        </a:rPr>
                        <a:t>381</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5280">
                <a:tc>
                  <a:txBody>
                    <a:bodyPr/>
                    <a:lstStyle/>
                    <a:p>
                      <a:pPr marL="0" indent="0">
                        <a:buNone/>
                      </a:pPr>
                      <a:r>
                        <a:rPr lang="en-US" sz="800" dirty="0">
                          <a:solidFill>
                            <a:srgbClr val="0D1B2A"/>
                          </a:solidFill>
                        </a:rPr>
                        <a:t>Neurosciences</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7293"/>
                          </a:solidFill>
                        </a:rPr>
                        <a:t>525</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7293"/>
                          </a:solidFill>
                        </a:rPr>
                        <a:t>418</a:t>
                      </a:r>
                      <a:endParaRPr lang="en-US" sz="800" dirty="0"/>
                    </a:p>
                  </a:txBody>
                  <a:tcPr>
                    <a:lnL w="6350" cap="flat" cmpd="sng" algn="ctr">
                      <a:solidFill>
                        <a:srgbClr val="E2EBF3"/>
                      </a:solidFill>
                      <a:prstDash val="solid"/>
                      <a:round/>
                      <a:headEnd type="none" w="med" len="med"/>
                      <a:tailEnd type="none" w="med" len="med"/>
                    </a:lnL>
                    <a:lnR w="6350" cap="flat" cmpd="sng" algn="ctr">
                      <a:solidFill>
                        <a:srgbClr val="E2EBF3"/>
                      </a:solidFill>
                      <a:prstDash val="solid"/>
                      <a:round/>
                      <a:headEnd type="none" w="med" len="med"/>
                      <a:tailEnd type="none" w="med" len="med"/>
                    </a:lnR>
                    <a:lnT w="6350" cap="flat" cmpd="sng" algn="ctr">
                      <a:solidFill>
                        <a:srgbClr val="E2EBF3"/>
                      </a:solidFill>
                      <a:prstDash val="solid"/>
                      <a:round/>
                      <a:headEnd type="none" w="med" len="med"/>
                      <a:tailEnd type="none" w="med" len="med"/>
                    </a:lnT>
                    <a:lnB w="6350" cap="flat" cmpd="sng" algn="ctr">
                      <a:solidFill>
                        <a:srgbClr val="E2EBF3"/>
                      </a:solidFill>
                      <a:prstDash val="solid"/>
                      <a:round/>
                      <a:headEnd type="none" w="med" len="med"/>
                      <a:tailEnd type="none" w="med" len="med"/>
                    </a:lnB>
                    <a:solidFill>
                      <a:srgbClr val="F4F8FB"/>
                    </a:solidFill>
                  </a:tcPr>
                </a:tc>
                <a:extLst>
                  <a:ext uri="{0D108BD9-81ED-4DB2-BD59-A6C34878D82A}">
                    <a16:rowId xmlns:a16="http://schemas.microsoft.com/office/drawing/2014/main" val="10005"/>
                  </a:ext>
                </a:extLst>
              </a:tr>
            </a:tbl>
          </a:graphicData>
        </a:graphic>
      </p:graphicFrame>
      <p:sp>
        <p:nvSpPr>
          <p:cNvPr id="10" name="Text 6"/>
          <p:cNvSpPr/>
          <p:nvPr/>
        </p:nvSpPr>
        <p:spPr>
          <a:xfrm>
            <a:off x="274320" y="4846320"/>
            <a:ext cx="8595360" cy="22860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Visualization type: Pie Chart, Doughnut Chart, Gantt Chart, Tree Map, Heat Map</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65A82"/>
          </a:solidFill>
          <a:ln w="12700">
            <a:solidFill>
              <a:srgbClr val="065A82"/>
            </a:solidFill>
            <a:prstDash val="solid"/>
          </a:ln>
        </p:spPr>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07  Analytical Techniques Used in Tableau</a:t>
            </a:r>
            <a:endParaRPr lang="en-US" sz="1800" dirty="0"/>
          </a:p>
        </p:txBody>
      </p:sp>
      <p:sp>
        <p:nvSpPr>
          <p:cNvPr id="4" name="Shape 2"/>
          <p:cNvSpPr/>
          <p:nvPr/>
        </p:nvSpPr>
        <p:spPr>
          <a:xfrm>
            <a:off x="274320" y="749808"/>
            <a:ext cx="4114800" cy="347472"/>
          </a:xfrm>
          <a:prstGeom prst="rect">
            <a:avLst/>
          </a:prstGeom>
          <a:solidFill>
            <a:srgbClr val="1C7293"/>
          </a:solidFill>
          <a:ln w="12700">
            <a:solidFill>
              <a:srgbClr val="1C7293"/>
            </a:solidFill>
            <a:prstDash val="solid"/>
          </a:ln>
        </p:spPr>
      </p:sp>
      <p:sp>
        <p:nvSpPr>
          <p:cNvPr id="5" name="Text 3"/>
          <p:cNvSpPr/>
          <p:nvPr/>
        </p:nvSpPr>
        <p:spPr>
          <a:xfrm>
            <a:off x="365760" y="749808"/>
            <a:ext cx="393192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Table Calculations</a:t>
            </a:r>
            <a:endParaRPr lang="en-US" sz="1100" dirty="0"/>
          </a:p>
        </p:txBody>
      </p:sp>
      <p:sp>
        <p:nvSpPr>
          <p:cNvPr id="6" name="Shape 4"/>
          <p:cNvSpPr/>
          <p:nvPr/>
        </p:nvSpPr>
        <p:spPr>
          <a:xfrm>
            <a:off x="274320" y="1170432"/>
            <a:ext cx="4114800" cy="685800"/>
          </a:xfrm>
          <a:prstGeom prst="rect">
            <a:avLst/>
          </a:prstGeom>
          <a:solidFill>
            <a:srgbClr val="FFFFFF"/>
          </a:solidFill>
          <a:ln w="12700">
            <a:solidFill>
              <a:srgbClr val="E2EBF3"/>
            </a:solidFill>
            <a:prstDash val="solid"/>
          </a:ln>
        </p:spPr>
      </p:sp>
      <p:sp>
        <p:nvSpPr>
          <p:cNvPr id="7" name="Shape 5"/>
          <p:cNvSpPr/>
          <p:nvPr/>
        </p:nvSpPr>
        <p:spPr>
          <a:xfrm>
            <a:off x="274320" y="1170432"/>
            <a:ext cx="73152" cy="685800"/>
          </a:xfrm>
          <a:prstGeom prst="rect">
            <a:avLst/>
          </a:prstGeom>
          <a:solidFill>
            <a:srgbClr val="1C7293"/>
          </a:solidFill>
          <a:ln w="12700">
            <a:solidFill>
              <a:srgbClr val="1C7293"/>
            </a:solidFill>
            <a:prstDash val="solid"/>
          </a:ln>
        </p:spPr>
      </p:sp>
      <p:sp>
        <p:nvSpPr>
          <p:cNvPr id="8" name="Text 6"/>
          <p:cNvSpPr/>
          <p:nvPr/>
        </p:nvSpPr>
        <p:spPr>
          <a:xfrm>
            <a:off x="411480" y="1207008"/>
            <a:ext cx="3840480" cy="228600"/>
          </a:xfrm>
          <a:prstGeom prst="rect">
            <a:avLst/>
          </a:prstGeom>
          <a:noFill/>
          <a:ln/>
        </p:spPr>
        <p:txBody>
          <a:bodyPr wrap="square" rtlCol="0" anchor="ctr"/>
          <a:lstStyle/>
          <a:p>
            <a:pPr marL="0" indent="0">
              <a:buNone/>
            </a:pPr>
            <a:r>
              <a:rPr lang="en-US" sz="950" b="1" dirty="0">
                <a:solidFill>
                  <a:srgbClr val="065A82"/>
                </a:solidFill>
                <a:latin typeface="Consolas" pitchFamily="34" charset="0"/>
                <a:ea typeface="Consolas" pitchFamily="34" charset="-122"/>
                <a:cs typeface="Consolas" pitchFamily="34" charset="-120"/>
              </a:rPr>
              <a:t>INDEX()</a:t>
            </a:r>
            <a:endParaRPr lang="en-US" sz="950" dirty="0"/>
          </a:p>
        </p:txBody>
      </p:sp>
      <p:sp>
        <p:nvSpPr>
          <p:cNvPr id="9" name="Text 7"/>
          <p:cNvSpPr/>
          <p:nvPr/>
        </p:nvSpPr>
        <p:spPr>
          <a:xfrm>
            <a:off x="411480" y="1417320"/>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Numbers rows sequentially — I used this to create custom row numbering in ranked views.</a:t>
            </a:r>
            <a:endParaRPr lang="en-US" sz="850" dirty="0"/>
          </a:p>
        </p:txBody>
      </p:sp>
      <p:sp>
        <p:nvSpPr>
          <p:cNvPr id="10" name="Shape 8"/>
          <p:cNvSpPr/>
          <p:nvPr/>
        </p:nvSpPr>
        <p:spPr>
          <a:xfrm>
            <a:off x="274320" y="1920240"/>
            <a:ext cx="4114800" cy="685800"/>
          </a:xfrm>
          <a:prstGeom prst="rect">
            <a:avLst/>
          </a:prstGeom>
          <a:solidFill>
            <a:srgbClr val="FFFFFF"/>
          </a:solidFill>
          <a:ln w="12700">
            <a:solidFill>
              <a:srgbClr val="E2EBF3"/>
            </a:solidFill>
            <a:prstDash val="solid"/>
          </a:ln>
        </p:spPr>
      </p:sp>
      <p:sp>
        <p:nvSpPr>
          <p:cNvPr id="11" name="Shape 9"/>
          <p:cNvSpPr/>
          <p:nvPr/>
        </p:nvSpPr>
        <p:spPr>
          <a:xfrm>
            <a:off x="274320" y="1920240"/>
            <a:ext cx="73152" cy="685800"/>
          </a:xfrm>
          <a:prstGeom prst="rect">
            <a:avLst/>
          </a:prstGeom>
          <a:solidFill>
            <a:srgbClr val="1C7293"/>
          </a:solidFill>
          <a:ln w="12700">
            <a:solidFill>
              <a:srgbClr val="1C7293"/>
            </a:solidFill>
            <a:prstDash val="solid"/>
          </a:ln>
        </p:spPr>
      </p:sp>
      <p:sp>
        <p:nvSpPr>
          <p:cNvPr id="12" name="Text 10"/>
          <p:cNvSpPr/>
          <p:nvPr/>
        </p:nvSpPr>
        <p:spPr>
          <a:xfrm>
            <a:off x="411480" y="1956816"/>
            <a:ext cx="3840480" cy="228600"/>
          </a:xfrm>
          <a:prstGeom prst="rect">
            <a:avLst/>
          </a:prstGeom>
          <a:noFill/>
          <a:ln/>
        </p:spPr>
        <p:txBody>
          <a:bodyPr wrap="square" rtlCol="0" anchor="ctr"/>
          <a:lstStyle/>
          <a:p>
            <a:pPr marL="0" indent="0">
              <a:buNone/>
            </a:pPr>
            <a:r>
              <a:rPr lang="en-US" sz="950" b="1" dirty="0">
                <a:solidFill>
                  <a:srgbClr val="065A82"/>
                </a:solidFill>
                <a:latin typeface="Consolas" pitchFamily="34" charset="0"/>
                <a:ea typeface="Consolas" pitchFamily="34" charset="-122"/>
                <a:cs typeface="Consolas" pitchFamily="34" charset="-120"/>
              </a:rPr>
              <a:t>RANK()</a:t>
            </a:r>
            <a:endParaRPr lang="en-US" sz="950" dirty="0"/>
          </a:p>
        </p:txBody>
      </p:sp>
      <p:sp>
        <p:nvSpPr>
          <p:cNvPr id="13" name="Text 11"/>
          <p:cNvSpPr/>
          <p:nvPr/>
        </p:nvSpPr>
        <p:spPr>
          <a:xfrm>
            <a:off x="411480" y="2167128"/>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Dynamically ranks research areas by funding. Updating the year filter auto-re-ranks everything.</a:t>
            </a:r>
            <a:endParaRPr lang="en-US" sz="850" dirty="0"/>
          </a:p>
        </p:txBody>
      </p:sp>
      <p:sp>
        <p:nvSpPr>
          <p:cNvPr id="14" name="Shape 12"/>
          <p:cNvSpPr/>
          <p:nvPr/>
        </p:nvSpPr>
        <p:spPr>
          <a:xfrm>
            <a:off x="274320" y="2670048"/>
            <a:ext cx="4114800" cy="685800"/>
          </a:xfrm>
          <a:prstGeom prst="rect">
            <a:avLst/>
          </a:prstGeom>
          <a:solidFill>
            <a:srgbClr val="FFFFFF"/>
          </a:solidFill>
          <a:ln w="12700">
            <a:solidFill>
              <a:srgbClr val="E2EBF3"/>
            </a:solidFill>
            <a:prstDash val="solid"/>
          </a:ln>
        </p:spPr>
      </p:sp>
      <p:sp>
        <p:nvSpPr>
          <p:cNvPr id="15" name="Shape 13"/>
          <p:cNvSpPr/>
          <p:nvPr/>
        </p:nvSpPr>
        <p:spPr>
          <a:xfrm>
            <a:off x="274320" y="2670048"/>
            <a:ext cx="73152" cy="685800"/>
          </a:xfrm>
          <a:prstGeom prst="rect">
            <a:avLst/>
          </a:prstGeom>
          <a:solidFill>
            <a:srgbClr val="1C7293"/>
          </a:solidFill>
          <a:ln w="12700">
            <a:solidFill>
              <a:srgbClr val="1C7293"/>
            </a:solidFill>
            <a:prstDash val="solid"/>
          </a:ln>
        </p:spPr>
      </p:sp>
      <p:sp>
        <p:nvSpPr>
          <p:cNvPr id="16" name="Text 14"/>
          <p:cNvSpPr/>
          <p:nvPr/>
        </p:nvSpPr>
        <p:spPr>
          <a:xfrm>
            <a:off x="411480" y="2706624"/>
            <a:ext cx="3840480" cy="228600"/>
          </a:xfrm>
          <a:prstGeom prst="rect">
            <a:avLst/>
          </a:prstGeom>
          <a:noFill/>
          <a:ln/>
        </p:spPr>
        <p:txBody>
          <a:bodyPr wrap="square" rtlCol="0" anchor="ctr"/>
          <a:lstStyle/>
          <a:p>
            <a:pPr marL="0" indent="0">
              <a:buNone/>
            </a:pPr>
            <a:r>
              <a:rPr lang="en-US" sz="950" b="1" dirty="0">
                <a:solidFill>
                  <a:srgbClr val="065A82"/>
                </a:solidFill>
                <a:latin typeface="Consolas" pitchFamily="34" charset="0"/>
                <a:ea typeface="Consolas" pitchFamily="34" charset="-122"/>
                <a:cs typeface="Consolas" pitchFamily="34" charset="-120"/>
              </a:rPr>
              <a:t>FIRST() / LAST()</a:t>
            </a:r>
            <a:endParaRPr lang="en-US" sz="950" dirty="0"/>
          </a:p>
        </p:txBody>
      </p:sp>
      <p:sp>
        <p:nvSpPr>
          <p:cNvPr id="17" name="Text 15"/>
          <p:cNvSpPr/>
          <p:nvPr/>
        </p:nvSpPr>
        <p:spPr>
          <a:xfrm>
            <a:off x="411480" y="2916936"/>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Identifies the first or last row in a partition — useful for waterfall chart bases.</a:t>
            </a:r>
            <a:endParaRPr lang="en-US" sz="850" dirty="0"/>
          </a:p>
        </p:txBody>
      </p:sp>
      <p:sp>
        <p:nvSpPr>
          <p:cNvPr id="18" name="Shape 16"/>
          <p:cNvSpPr/>
          <p:nvPr/>
        </p:nvSpPr>
        <p:spPr>
          <a:xfrm>
            <a:off x="274320" y="3419856"/>
            <a:ext cx="4114800" cy="685800"/>
          </a:xfrm>
          <a:prstGeom prst="rect">
            <a:avLst/>
          </a:prstGeom>
          <a:solidFill>
            <a:srgbClr val="FFFFFF"/>
          </a:solidFill>
          <a:ln w="12700">
            <a:solidFill>
              <a:srgbClr val="E2EBF3"/>
            </a:solidFill>
            <a:prstDash val="solid"/>
          </a:ln>
        </p:spPr>
      </p:sp>
      <p:sp>
        <p:nvSpPr>
          <p:cNvPr id="19" name="Shape 17"/>
          <p:cNvSpPr/>
          <p:nvPr/>
        </p:nvSpPr>
        <p:spPr>
          <a:xfrm>
            <a:off x="274320" y="3419856"/>
            <a:ext cx="73152" cy="685800"/>
          </a:xfrm>
          <a:prstGeom prst="rect">
            <a:avLst/>
          </a:prstGeom>
          <a:solidFill>
            <a:srgbClr val="1C7293"/>
          </a:solidFill>
          <a:ln w="12700">
            <a:solidFill>
              <a:srgbClr val="1C7293"/>
            </a:solidFill>
            <a:prstDash val="solid"/>
          </a:ln>
        </p:spPr>
      </p:sp>
      <p:sp>
        <p:nvSpPr>
          <p:cNvPr id="20" name="Text 18"/>
          <p:cNvSpPr/>
          <p:nvPr/>
        </p:nvSpPr>
        <p:spPr>
          <a:xfrm>
            <a:off x="411480" y="3456432"/>
            <a:ext cx="3840480" cy="228600"/>
          </a:xfrm>
          <a:prstGeom prst="rect">
            <a:avLst/>
          </a:prstGeom>
          <a:noFill/>
          <a:ln/>
        </p:spPr>
        <p:txBody>
          <a:bodyPr wrap="square" rtlCol="0" anchor="ctr"/>
          <a:lstStyle/>
          <a:p>
            <a:pPr marL="0" indent="0">
              <a:buNone/>
            </a:pPr>
            <a:r>
              <a:rPr lang="en-US" sz="950" b="1" dirty="0">
                <a:solidFill>
                  <a:srgbClr val="065A82"/>
                </a:solidFill>
                <a:latin typeface="Consolas" pitchFamily="34" charset="0"/>
                <a:ea typeface="Consolas" pitchFamily="34" charset="-122"/>
                <a:cs typeface="Consolas" pitchFamily="34" charset="-120"/>
              </a:rPr>
              <a:t>RUNNING_SUM()</a:t>
            </a:r>
            <a:endParaRPr lang="en-US" sz="950" dirty="0"/>
          </a:p>
        </p:txBody>
      </p:sp>
      <p:sp>
        <p:nvSpPr>
          <p:cNvPr id="21" name="Text 19"/>
          <p:cNvSpPr/>
          <p:nvPr/>
        </p:nvSpPr>
        <p:spPr>
          <a:xfrm>
            <a:off x="411480" y="3666744"/>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Cumulative total of funding over years. Shows how investment compounds over time.</a:t>
            </a:r>
            <a:endParaRPr lang="en-US" sz="850" dirty="0"/>
          </a:p>
        </p:txBody>
      </p:sp>
      <p:sp>
        <p:nvSpPr>
          <p:cNvPr id="22" name="Shape 20"/>
          <p:cNvSpPr/>
          <p:nvPr/>
        </p:nvSpPr>
        <p:spPr>
          <a:xfrm>
            <a:off x="274320" y="4169664"/>
            <a:ext cx="4114800" cy="685800"/>
          </a:xfrm>
          <a:prstGeom prst="rect">
            <a:avLst/>
          </a:prstGeom>
          <a:solidFill>
            <a:srgbClr val="FFFFFF"/>
          </a:solidFill>
          <a:ln w="12700">
            <a:solidFill>
              <a:srgbClr val="E2EBF3"/>
            </a:solidFill>
            <a:prstDash val="solid"/>
          </a:ln>
        </p:spPr>
      </p:sp>
      <p:sp>
        <p:nvSpPr>
          <p:cNvPr id="23" name="Shape 21"/>
          <p:cNvSpPr/>
          <p:nvPr/>
        </p:nvSpPr>
        <p:spPr>
          <a:xfrm>
            <a:off x="274320" y="4169664"/>
            <a:ext cx="73152" cy="685800"/>
          </a:xfrm>
          <a:prstGeom prst="rect">
            <a:avLst/>
          </a:prstGeom>
          <a:solidFill>
            <a:srgbClr val="1C7293"/>
          </a:solidFill>
          <a:ln w="12700">
            <a:solidFill>
              <a:srgbClr val="1C7293"/>
            </a:solidFill>
            <a:prstDash val="solid"/>
          </a:ln>
        </p:spPr>
      </p:sp>
      <p:sp>
        <p:nvSpPr>
          <p:cNvPr id="24" name="Text 22"/>
          <p:cNvSpPr/>
          <p:nvPr/>
        </p:nvSpPr>
        <p:spPr>
          <a:xfrm>
            <a:off x="411480" y="4206240"/>
            <a:ext cx="3840480" cy="228600"/>
          </a:xfrm>
          <a:prstGeom prst="rect">
            <a:avLst/>
          </a:prstGeom>
          <a:noFill/>
          <a:ln/>
        </p:spPr>
        <p:txBody>
          <a:bodyPr wrap="square" rtlCol="0" anchor="ctr"/>
          <a:lstStyle/>
          <a:p>
            <a:pPr marL="0" indent="0">
              <a:buNone/>
            </a:pPr>
            <a:r>
              <a:rPr lang="en-US" sz="950" b="1" dirty="0">
                <a:solidFill>
                  <a:srgbClr val="065A82"/>
                </a:solidFill>
                <a:latin typeface="Consolas" pitchFamily="34" charset="0"/>
                <a:ea typeface="Consolas" pitchFamily="34" charset="-122"/>
                <a:cs typeface="Consolas" pitchFamily="34" charset="-120"/>
              </a:rPr>
              <a:t>WINDOW_SUM()</a:t>
            </a:r>
            <a:endParaRPr lang="en-US" sz="950" dirty="0"/>
          </a:p>
        </p:txBody>
      </p:sp>
      <p:sp>
        <p:nvSpPr>
          <p:cNvPr id="25" name="Text 23"/>
          <p:cNvSpPr/>
          <p:nvPr/>
        </p:nvSpPr>
        <p:spPr>
          <a:xfrm>
            <a:off x="411480" y="4416552"/>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Sum within a window of rows. I used this to calculate average funding over rolling periods.</a:t>
            </a:r>
            <a:endParaRPr lang="en-US" sz="850" dirty="0"/>
          </a:p>
        </p:txBody>
      </p:sp>
      <p:sp>
        <p:nvSpPr>
          <p:cNvPr id="26" name="Shape 24"/>
          <p:cNvSpPr/>
          <p:nvPr/>
        </p:nvSpPr>
        <p:spPr>
          <a:xfrm>
            <a:off x="4754880" y="749808"/>
            <a:ext cx="4114800" cy="347472"/>
          </a:xfrm>
          <a:prstGeom prst="rect">
            <a:avLst/>
          </a:prstGeom>
          <a:solidFill>
            <a:srgbClr val="02C39A"/>
          </a:solidFill>
          <a:ln w="12700">
            <a:solidFill>
              <a:srgbClr val="02C39A"/>
            </a:solidFill>
            <a:prstDash val="solid"/>
          </a:ln>
        </p:spPr>
      </p:sp>
      <p:sp>
        <p:nvSpPr>
          <p:cNvPr id="27" name="Text 25"/>
          <p:cNvSpPr/>
          <p:nvPr/>
        </p:nvSpPr>
        <p:spPr>
          <a:xfrm>
            <a:off x="4846320" y="749808"/>
            <a:ext cx="393192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Calculated Fields</a:t>
            </a:r>
            <a:endParaRPr lang="en-US" sz="1100" dirty="0"/>
          </a:p>
        </p:txBody>
      </p:sp>
      <p:sp>
        <p:nvSpPr>
          <p:cNvPr id="28" name="Shape 26"/>
          <p:cNvSpPr/>
          <p:nvPr/>
        </p:nvSpPr>
        <p:spPr>
          <a:xfrm>
            <a:off x="4754880" y="1170432"/>
            <a:ext cx="4114800" cy="685800"/>
          </a:xfrm>
          <a:prstGeom prst="rect">
            <a:avLst/>
          </a:prstGeom>
          <a:solidFill>
            <a:srgbClr val="FFFFFF"/>
          </a:solidFill>
          <a:ln w="12700">
            <a:solidFill>
              <a:srgbClr val="E2EBF3"/>
            </a:solidFill>
            <a:prstDash val="solid"/>
          </a:ln>
        </p:spPr>
      </p:sp>
      <p:sp>
        <p:nvSpPr>
          <p:cNvPr id="29" name="Shape 27"/>
          <p:cNvSpPr/>
          <p:nvPr/>
        </p:nvSpPr>
        <p:spPr>
          <a:xfrm>
            <a:off x="4754880" y="1170432"/>
            <a:ext cx="73152" cy="685800"/>
          </a:xfrm>
          <a:prstGeom prst="rect">
            <a:avLst/>
          </a:prstGeom>
          <a:solidFill>
            <a:srgbClr val="02C39A"/>
          </a:solidFill>
          <a:ln w="12700">
            <a:solidFill>
              <a:srgbClr val="02C39A"/>
            </a:solidFill>
            <a:prstDash val="solid"/>
          </a:ln>
        </p:spPr>
      </p:sp>
      <p:sp>
        <p:nvSpPr>
          <p:cNvPr id="30" name="Text 28"/>
          <p:cNvSpPr/>
          <p:nvPr/>
        </p:nvSpPr>
        <p:spPr>
          <a:xfrm>
            <a:off x="4892040" y="1207008"/>
            <a:ext cx="3840480" cy="228600"/>
          </a:xfrm>
          <a:prstGeom prst="rect">
            <a:avLst/>
          </a:prstGeom>
          <a:noFill/>
          <a:ln/>
        </p:spPr>
        <p:txBody>
          <a:bodyPr wrap="square" rtlCol="0" anchor="ctr"/>
          <a:lstStyle/>
          <a:p>
            <a:pPr marL="0" indent="0">
              <a:buNone/>
            </a:pPr>
            <a:r>
              <a:rPr lang="en-US" sz="950" b="1" dirty="0">
                <a:solidFill>
                  <a:srgbClr val="065A82"/>
                </a:solidFill>
                <a:latin typeface="Consolas" pitchFamily="34" charset="0"/>
                <a:ea typeface="Consolas" pitchFamily="34" charset="-122"/>
                <a:cs typeface="Consolas" pitchFamily="34" charset="-120"/>
              </a:rPr>
              <a:t>String Calcs</a:t>
            </a:r>
            <a:endParaRPr lang="en-US" sz="950" dirty="0"/>
          </a:p>
        </p:txBody>
      </p:sp>
      <p:sp>
        <p:nvSpPr>
          <p:cNvPr id="31" name="Text 29"/>
          <p:cNvSpPr/>
          <p:nvPr/>
        </p:nvSpPr>
        <p:spPr>
          <a:xfrm>
            <a:off x="4892040" y="1417320"/>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CONTAINS(), LEFT(), UPPER() — used to clean and categorise disease names.</a:t>
            </a:r>
            <a:endParaRPr lang="en-US" sz="850" dirty="0"/>
          </a:p>
        </p:txBody>
      </p:sp>
      <p:sp>
        <p:nvSpPr>
          <p:cNvPr id="32" name="Shape 30"/>
          <p:cNvSpPr/>
          <p:nvPr/>
        </p:nvSpPr>
        <p:spPr>
          <a:xfrm>
            <a:off x="4754880" y="1920240"/>
            <a:ext cx="4114800" cy="685800"/>
          </a:xfrm>
          <a:prstGeom prst="rect">
            <a:avLst/>
          </a:prstGeom>
          <a:solidFill>
            <a:srgbClr val="FFFFFF"/>
          </a:solidFill>
          <a:ln w="12700">
            <a:solidFill>
              <a:srgbClr val="E2EBF3"/>
            </a:solidFill>
            <a:prstDash val="solid"/>
          </a:ln>
        </p:spPr>
      </p:sp>
      <p:sp>
        <p:nvSpPr>
          <p:cNvPr id="33" name="Shape 31"/>
          <p:cNvSpPr/>
          <p:nvPr/>
        </p:nvSpPr>
        <p:spPr>
          <a:xfrm>
            <a:off x="4754880" y="1920240"/>
            <a:ext cx="73152" cy="685800"/>
          </a:xfrm>
          <a:prstGeom prst="rect">
            <a:avLst/>
          </a:prstGeom>
          <a:solidFill>
            <a:srgbClr val="02C39A"/>
          </a:solidFill>
          <a:ln w="12700">
            <a:solidFill>
              <a:srgbClr val="02C39A"/>
            </a:solidFill>
            <a:prstDash val="solid"/>
          </a:ln>
        </p:spPr>
      </p:sp>
      <p:sp>
        <p:nvSpPr>
          <p:cNvPr id="34" name="Text 32"/>
          <p:cNvSpPr/>
          <p:nvPr/>
        </p:nvSpPr>
        <p:spPr>
          <a:xfrm>
            <a:off x="4892040" y="1956816"/>
            <a:ext cx="3840480" cy="228600"/>
          </a:xfrm>
          <a:prstGeom prst="rect">
            <a:avLst/>
          </a:prstGeom>
          <a:noFill/>
          <a:ln/>
        </p:spPr>
        <p:txBody>
          <a:bodyPr wrap="square" rtlCol="0" anchor="ctr"/>
          <a:lstStyle/>
          <a:p>
            <a:pPr marL="0" indent="0">
              <a:buNone/>
            </a:pPr>
            <a:r>
              <a:rPr lang="en-US" sz="950" b="1" dirty="0">
                <a:solidFill>
                  <a:srgbClr val="065A82"/>
                </a:solidFill>
                <a:latin typeface="Consolas" pitchFamily="34" charset="0"/>
                <a:ea typeface="Consolas" pitchFamily="34" charset="-122"/>
                <a:cs typeface="Consolas" pitchFamily="34" charset="-120"/>
              </a:rPr>
              <a:t>Boolean Calcs</a:t>
            </a:r>
            <a:endParaRPr lang="en-US" sz="950" dirty="0"/>
          </a:p>
        </p:txBody>
      </p:sp>
      <p:sp>
        <p:nvSpPr>
          <p:cNvPr id="35" name="Text 33"/>
          <p:cNvSpPr/>
          <p:nvPr/>
        </p:nvSpPr>
        <p:spPr>
          <a:xfrm>
            <a:off x="4892040" y="2167128"/>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Flags like [Is High Mortality] = [Mortality] &gt; 100000 for colour coding.</a:t>
            </a:r>
            <a:endParaRPr lang="en-US" sz="850" dirty="0"/>
          </a:p>
        </p:txBody>
      </p:sp>
      <p:sp>
        <p:nvSpPr>
          <p:cNvPr id="36" name="Shape 34"/>
          <p:cNvSpPr/>
          <p:nvPr/>
        </p:nvSpPr>
        <p:spPr>
          <a:xfrm>
            <a:off x="4754880" y="2670048"/>
            <a:ext cx="4114800" cy="685800"/>
          </a:xfrm>
          <a:prstGeom prst="rect">
            <a:avLst/>
          </a:prstGeom>
          <a:solidFill>
            <a:srgbClr val="FFFFFF"/>
          </a:solidFill>
          <a:ln w="12700">
            <a:solidFill>
              <a:srgbClr val="E2EBF3"/>
            </a:solidFill>
            <a:prstDash val="solid"/>
          </a:ln>
        </p:spPr>
      </p:sp>
      <p:sp>
        <p:nvSpPr>
          <p:cNvPr id="37" name="Shape 35"/>
          <p:cNvSpPr/>
          <p:nvPr/>
        </p:nvSpPr>
        <p:spPr>
          <a:xfrm>
            <a:off x="4754880" y="2670048"/>
            <a:ext cx="73152" cy="685800"/>
          </a:xfrm>
          <a:prstGeom prst="rect">
            <a:avLst/>
          </a:prstGeom>
          <a:solidFill>
            <a:srgbClr val="02C39A"/>
          </a:solidFill>
          <a:ln w="12700">
            <a:solidFill>
              <a:srgbClr val="02C39A"/>
            </a:solidFill>
            <a:prstDash val="solid"/>
          </a:ln>
        </p:spPr>
      </p:sp>
      <p:sp>
        <p:nvSpPr>
          <p:cNvPr id="38" name="Text 36"/>
          <p:cNvSpPr/>
          <p:nvPr/>
        </p:nvSpPr>
        <p:spPr>
          <a:xfrm>
            <a:off x="4892040" y="2706624"/>
            <a:ext cx="3840480" cy="228600"/>
          </a:xfrm>
          <a:prstGeom prst="rect">
            <a:avLst/>
          </a:prstGeom>
          <a:noFill/>
          <a:ln/>
        </p:spPr>
        <p:txBody>
          <a:bodyPr wrap="square" rtlCol="0" anchor="ctr"/>
          <a:lstStyle/>
          <a:p>
            <a:pPr marL="0" indent="0">
              <a:buNone/>
            </a:pPr>
            <a:r>
              <a:rPr lang="en-US" sz="950" b="1" dirty="0">
                <a:solidFill>
                  <a:srgbClr val="065A82"/>
                </a:solidFill>
                <a:latin typeface="Consolas" pitchFamily="34" charset="0"/>
                <a:ea typeface="Consolas" pitchFamily="34" charset="-122"/>
                <a:cs typeface="Consolas" pitchFamily="34" charset="-120"/>
              </a:rPr>
              <a:t>Date Calcs</a:t>
            </a:r>
            <a:endParaRPr lang="en-US" sz="950" dirty="0"/>
          </a:p>
        </p:txBody>
      </p:sp>
      <p:sp>
        <p:nvSpPr>
          <p:cNvPr id="39" name="Text 37"/>
          <p:cNvSpPr/>
          <p:nvPr/>
        </p:nvSpPr>
        <p:spPr>
          <a:xfrm>
            <a:off x="4892040" y="2916936"/>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DATEPART() to extract year from date fields; DATEDIFF() for interval comparisons.</a:t>
            </a:r>
            <a:endParaRPr lang="en-US" sz="850" dirty="0"/>
          </a:p>
        </p:txBody>
      </p:sp>
      <p:sp>
        <p:nvSpPr>
          <p:cNvPr id="40" name="Shape 38"/>
          <p:cNvSpPr/>
          <p:nvPr/>
        </p:nvSpPr>
        <p:spPr>
          <a:xfrm>
            <a:off x="4754880" y="3419856"/>
            <a:ext cx="4114800" cy="685800"/>
          </a:xfrm>
          <a:prstGeom prst="rect">
            <a:avLst/>
          </a:prstGeom>
          <a:solidFill>
            <a:srgbClr val="FFFFFF"/>
          </a:solidFill>
          <a:ln w="12700">
            <a:solidFill>
              <a:srgbClr val="E2EBF3"/>
            </a:solidFill>
            <a:prstDash val="solid"/>
          </a:ln>
        </p:spPr>
      </p:sp>
      <p:sp>
        <p:nvSpPr>
          <p:cNvPr id="41" name="Shape 39"/>
          <p:cNvSpPr/>
          <p:nvPr/>
        </p:nvSpPr>
        <p:spPr>
          <a:xfrm>
            <a:off x="4754880" y="3419856"/>
            <a:ext cx="73152" cy="685800"/>
          </a:xfrm>
          <a:prstGeom prst="rect">
            <a:avLst/>
          </a:prstGeom>
          <a:solidFill>
            <a:srgbClr val="02C39A"/>
          </a:solidFill>
          <a:ln w="12700">
            <a:solidFill>
              <a:srgbClr val="02C39A"/>
            </a:solidFill>
            <a:prstDash val="solid"/>
          </a:ln>
        </p:spPr>
      </p:sp>
      <p:sp>
        <p:nvSpPr>
          <p:cNvPr id="42" name="Text 40"/>
          <p:cNvSpPr/>
          <p:nvPr/>
        </p:nvSpPr>
        <p:spPr>
          <a:xfrm>
            <a:off x="4892040" y="3456432"/>
            <a:ext cx="3840480" cy="228600"/>
          </a:xfrm>
          <a:prstGeom prst="rect">
            <a:avLst/>
          </a:prstGeom>
          <a:noFill/>
          <a:ln/>
        </p:spPr>
        <p:txBody>
          <a:bodyPr wrap="square" rtlCol="0" anchor="ctr"/>
          <a:lstStyle/>
          <a:p>
            <a:pPr marL="0" indent="0">
              <a:buNone/>
            </a:pPr>
            <a:r>
              <a:rPr lang="en-US" sz="950" b="1" dirty="0">
                <a:solidFill>
                  <a:srgbClr val="065A82"/>
                </a:solidFill>
                <a:latin typeface="Consolas" pitchFamily="34" charset="0"/>
                <a:ea typeface="Consolas" pitchFamily="34" charset="-122"/>
                <a:cs typeface="Consolas" pitchFamily="34" charset="-120"/>
              </a:rPr>
              <a:t>Trend Models</a:t>
            </a:r>
            <a:endParaRPr lang="en-US" sz="950" dirty="0"/>
          </a:p>
        </p:txBody>
      </p:sp>
      <p:sp>
        <p:nvSpPr>
          <p:cNvPr id="43" name="Text 41"/>
          <p:cNvSpPr/>
          <p:nvPr/>
        </p:nvSpPr>
        <p:spPr>
          <a:xfrm>
            <a:off x="4892040" y="3666744"/>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Applied linear, polynomial, logarithmic &amp; exponential trendlines to funding series.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08  Visualizations Built — Full Coverage</a:t>
            </a:r>
            <a:endParaRPr lang="en-US" sz="1800" dirty="0"/>
          </a:p>
        </p:txBody>
      </p:sp>
      <p:sp>
        <p:nvSpPr>
          <p:cNvPr id="4" name="Shape 2"/>
          <p:cNvSpPr/>
          <p:nvPr/>
        </p:nvSpPr>
        <p:spPr>
          <a:xfrm>
            <a:off x="182880" y="77724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5" name="Shape 3"/>
          <p:cNvSpPr/>
          <p:nvPr/>
        </p:nvSpPr>
        <p:spPr>
          <a:xfrm>
            <a:off x="182880" y="777240"/>
            <a:ext cx="2084832" cy="292608"/>
          </a:xfrm>
          <a:prstGeom prst="rect">
            <a:avLst/>
          </a:prstGeom>
          <a:solidFill>
            <a:srgbClr val="02C39A"/>
          </a:solidFill>
          <a:ln w="12700">
            <a:solidFill>
              <a:srgbClr val="02C39A"/>
            </a:solidFill>
            <a:prstDash val="solid"/>
          </a:ln>
        </p:spPr>
      </p:sp>
      <p:sp>
        <p:nvSpPr>
          <p:cNvPr id="6" name="Text 4"/>
          <p:cNvSpPr/>
          <p:nvPr/>
        </p:nvSpPr>
        <p:spPr>
          <a:xfrm>
            <a:off x="256032" y="81381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Line Graph (Single)</a:t>
            </a:r>
            <a:endParaRPr lang="en-US" sz="850" dirty="0"/>
          </a:p>
        </p:txBody>
      </p:sp>
      <p:sp>
        <p:nvSpPr>
          <p:cNvPr id="7" name="Text 5"/>
          <p:cNvSpPr/>
          <p:nvPr/>
        </p:nvSpPr>
        <p:spPr>
          <a:xfrm>
            <a:off x="256032" y="112471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Funding trend for one research area over 2008–2024</a:t>
            </a:r>
            <a:endParaRPr lang="en-US" sz="800" dirty="0"/>
          </a:p>
        </p:txBody>
      </p:sp>
      <p:sp>
        <p:nvSpPr>
          <p:cNvPr id="8" name="Shape 6"/>
          <p:cNvSpPr/>
          <p:nvPr/>
        </p:nvSpPr>
        <p:spPr>
          <a:xfrm>
            <a:off x="2395728" y="77724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9" name="Shape 7"/>
          <p:cNvSpPr/>
          <p:nvPr/>
        </p:nvSpPr>
        <p:spPr>
          <a:xfrm>
            <a:off x="2395728" y="777240"/>
            <a:ext cx="2084832" cy="292608"/>
          </a:xfrm>
          <a:prstGeom prst="rect">
            <a:avLst/>
          </a:prstGeom>
          <a:solidFill>
            <a:srgbClr val="1C7293"/>
          </a:solidFill>
          <a:ln w="12700">
            <a:solidFill>
              <a:srgbClr val="1C7293"/>
            </a:solidFill>
            <a:prstDash val="solid"/>
          </a:ln>
        </p:spPr>
      </p:sp>
      <p:sp>
        <p:nvSpPr>
          <p:cNvPr id="10" name="Text 8"/>
          <p:cNvSpPr/>
          <p:nvPr/>
        </p:nvSpPr>
        <p:spPr>
          <a:xfrm>
            <a:off x="2468880" y="81381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Dual Line Graph</a:t>
            </a:r>
            <a:endParaRPr lang="en-US" sz="850" dirty="0"/>
          </a:p>
        </p:txBody>
      </p:sp>
      <p:sp>
        <p:nvSpPr>
          <p:cNvPr id="11" name="Text 9"/>
          <p:cNvSpPr/>
          <p:nvPr/>
        </p:nvSpPr>
        <p:spPr>
          <a:xfrm>
            <a:off x="2468880" y="112471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Comparing funding trends: e.g. Cancer vs Alzheimer's</a:t>
            </a:r>
            <a:endParaRPr lang="en-US" sz="800" dirty="0"/>
          </a:p>
        </p:txBody>
      </p:sp>
      <p:sp>
        <p:nvSpPr>
          <p:cNvPr id="12" name="Shape 10"/>
          <p:cNvSpPr/>
          <p:nvPr/>
        </p:nvSpPr>
        <p:spPr>
          <a:xfrm>
            <a:off x="4608576" y="77724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13" name="Shape 11"/>
          <p:cNvSpPr/>
          <p:nvPr/>
        </p:nvSpPr>
        <p:spPr>
          <a:xfrm>
            <a:off x="4608576" y="777240"/>
            <a:ext cx="2084832" cy="292608"/>
          </a:xfrm>
          <a:prstGeom prst="rect">
            <a:avLst/>
          </a:prstGeom>
          <a:solidFill>
            <a:srgbClr val="065A82"/>
          </a:solidFill>
          <a:ln w="12700">
            <a:solidFill>
              <a:srgbClr val="065A82"/>
            </a:solidFill>
            <a:prstDash val="solid"/>
          </a:ln>
        </p:spPr>
      </p:sp>
      <p:sp>
        <p:nvSpPr>
          <p:cNvPr id="14" name="Text 12"/>
          <p:cNvSpPr/>
          <p:nvPr/>
        </p:nvSpPr>
        <p:spPr>
          <a:xfrm>
            <a:off x="4681728" y="81381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Horizontal Bar Chart</a:t>
            </a:r>
            <a:endParaRPr lang="en-US" sz="850" dirty="0"/>
          </a:p>
        </p:txBody>
      </p:sp>
      <p:sp>
        <p:nvSpPr>
          <p:cNvPr id="15" name="Text 13"/>
          <p:cNvSpPr/>
          <p:nvPr/>
        </p:nvSpPr>
        <p:spPr>
          <a:xfrm>
            <a:off x="4681728" y="112471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Which area received most funding in a given year?</a:t>
            </a:r>
            <a:endParaRPr lang="en-US" sz="800" dirty="0"/>
          </a:p>
        </p:txBody>
      </p:sp>
      <p:sp>
        <p:nvSpPr>
          <p:cNvPr id="16" name="Shape 14"/>
          <p:cNvSpPr/>
          <p:nvPr/>
        </p:nvSpPr>
        <p:spPr>
          <a:xfrm>
            <a:off x="6821424" y="77724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17" name="Shape 15"/>
          <p:cNvSpPr/>
          <p:nvPr/>
        </p:nvSpPr>
        <p:spPr>
          <a:xfrm>
            <a:off x="6821424" y="777240"/>
            <a:ext cx="2084832" cy="292608"/>
          </a:xfrm>
          <a:prstGeom prst="rect">
            <a:avLst/>
          </a:prstGeom>
          <a:solidFill>
            <a:srgbClr val="02C39A"/>
          </a:solidFill>
          <a:ln w="12700">
            <a:solidFill>
              <a:srgbClr val="02C39A"/>
            </a:solidFill>
            <a:prstDash val="solid"/>
          </a:ln>
        </p:spPr>
      </p:sp>
      <p:sp>
        <p:nvSpPr>
          <p:cNvPr id="18" name="Text 16"/>
          <p:cNvSpPr/>
          <p:nvPr/>
        </p:nvSpPr>
        <p:spPr>
          <a:xfrm>
            <a:off x="6894576" y="81381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Stacked Bar Chart</a:t>
            </a:r>
            <a:endParaRPr lang="en-US" sz="850" dirty="0"/>
          </a:p>
        </p:txBody>
      </p:sp>
      <p:sp>
        <p:nvSpPr>
          <p:cNvPr id="19" name="Text 17"/>
          <p:cNvSpPr/>
          <p:nvPr/>
        </p:nvSpPr>
        <p:spPr>
          <a:xfrm>
            <a:off x="6894576" y="112471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Combined funding for multiple areas over years</a:t>
            </a:r>
            <a:endParaRPr lang="en-US" sz="800" dirty="0"/>
          </a:p>
        </p:txBody>
      </p:sp>
      <p:sp>
        <p:nvSpPr>
          <p:cNvPr id="20" name="Shape 18"/>
          <p:cNvSpPr/>
          <p:nvPr/>
        </p:nvSpPr>
        <p:spPr>
          <a:xfrm>
            <a:off x="182880" y="219456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21" name="Shape 19"/>
          <p:cNvSpPr/>
          <p:nvPr/>
        </p:nvSpPr>
        <p:spPr>
          <a:xfrm>
            <a:off x="182880" y="2194560"/>
            <a:ext cx="2084832" cy="292608"/>
          </a:xfrm>
          <a:prstGeom prst="rect">
            <a:avLst/>
          </a:prstGeom>
          <a:solidFill>
            <a:srgbClr val="1C7293"/>
          </a:solidFill>
          <a:ln w="12700">
            <a:solidFill>
              <a:srgbClr val="1C7293"/>
            </a:solidFill>
            <a:prstDash val="solid"/>
          </a:ln>
        </p:spPr>
      </p:sp>
      <p:sp>
        <p:nvSpPr>
          <p:cNvPr id="22" name="Text 20"/>
          <p:cNvSpPr/>
          <p:nvPr/>
        </p:nvSpPr>
        <p:spPr>
          <a:xfrm>
            <a:off x="256032" y="223113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Pie / Doughnut Chart</a:t>
            </a:r>
            <a:endParaRPr lang="en-US" sz="850" dirty="0"/>
          </a:p>
        </p:txBody>
      </p:sp>
      <p:sp>
        <p:nvSpPr>
          <p:cNvPr id="23" name="Text 21"/>
          <p:cNvSpPr/>
          <p:nvPr/>
        </p:nvSpPr>
        <p:spPr>
          <a:xfrm>
            <a:off x="256032" y="254203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Funding distribution share among top categories</a:t>
            </a:r>
            <a:endParaRPr lang="en-US" sz="800" dirty="0"/>
          </a:p>
        </p:txBody>
      </p:sp>
      <p:sp>
        <p:nvSpPr>
          <p:cNvPr id="24" name="Shape 22"/>
          <p:cNvSpPr/>
          <p:nvPr/>
        </p:nvSpPr>
        <p:spPr>
          <a:xfrm>
            <a:off x="2395728" y="219456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25" name="Shape 23"/>
          <p:cNvSpPr/>
          <p:nvPr/>
        </p:nvSpPr>
        <p:spPr>
          <a:xfrm>
            <a:off x="2395728" y="2194560"/>
            <a:ext cx="2084832" cy="292608"/>
          </a:xfrm>
          <a:prstGeom prst="rect">
            <a:avLst/>
          </a:prstGeom>
          <a:solidFill>
            <a:srgbClr val="065A82"/>
          </a:solidFill>
          <a:ln w="12700">
            <a:solidFill>
              <a:srgbClr val="065A82"/>
            </a:solidFill>
            <a:prstDash val="solid"/>
          </a:ln>
        </p:spPr>
      </p:sp>
      <p:sp>
        <p:nvSpPr>
          <p:cNvPr id="26" name="Text 24"/>
          <p:cNvSpPr/>
          <p:nvPr/>
        </p:nvSpPr>
        <p:spPr>
          <a:xfrm>
            <a:off x="2468880" y="223113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Gantt Chart</a:t>
            </a:r>
            <a:endParaRPr lang="en-US" sz="850" dirty="0"/>
          </a:p>
        </p:txBody>
      </p:sp>
      <p:sp>
        <p:nvSpPr>
          <p:cNvPr id="27" name="Text 25"/>
          <p:cNvSpPr/>
          <p:nvPr/>
        </p:nvSpPr>
        <p:spPr>
          <a:xfrm>
            <a:off x="2468880" y="254203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Funding timeline including ARRA periods</a:t>
            </a:r>
            <a:endParaRPr lang="en-US" sz="800" dirty="0"/>
          </a:p>
        </p:txBody>
      </p:sp>
      <p:sp>
        <p:nvSpPr>
          <p:cNvPr id="28" name="Shape 26"/>
          <p:cNvSpPr/>
          <p:nvPr/>
        </p:nvSpPr>
        <p:spPr>
          <a:xfrm>
            <a:off x="4608576" y="219456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29" name="Shape 27"/>
          <p:cNvSpPr/>
          <p:nvPr/>
        </p:nvSpPr>
        <p:spPr>
          <a:xfrm>
            <a:off x="4608576" y="2194560"/>
            <a:ext cx="2084832" cy="292608"/>
          </a:xfrm>
          <a:prstGeom prst="rect">
            <a:avLst/>
          </a:prstGeom>
          <a:solidFill>
            <a:srgbClr val="02C39A"/>
          </a:solidFill>
          <a:ln w="12700">
            <a:solidFill>
              <a:srgbClr val="02C39A"/>
            </a:solidFill>
            <a:prstDash val="solid"/>
          </a:ln>
        </p:spPr>
      </p:sp>
      <p:sp>
        <p:nvSpPr>
          <p:cNvPr id="30" name="Text 28"/>
          <p:cNvSpPr/>
          <p:nvPr/>
        </p:nvSpPr>
        <p:spPr>
          <a:xfrm>
            <a:off x="4681728" y="223113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Tree Map</a:t>
            </a:r>
            <a:endParaRPr lang="en-US" sz="850" dirty="0"/>
          </a:p>
        </p:txBody>
      </p:sp>
      <p:sp>
        <p:nvSpPr>
          <p:cNvPr id="31" name="Text 29"/>
          <p:cNvSpPr/>
          <p:nvPr/>
        </p:nvSpPr>
        <p:spPr>
          <a:xfrm>
            <a:off x="4681728" y="254203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Hierarchical view of funding allocation across areas</a:t>
            </a:r>
            <a:endParaRPr lang="en-US" sz="800" dirty="0"/>
          </a:p>
        </p:txBody>
      </p:sp>
      <p:sp>
        <p:nvSpPr>
          <p:cNvPr id="32" name="Shape 30"/>
          <p:cNvSpPr/>
          <p:nvPr/>
        </p:nvSpPr>
        <p:spPr>
          <a:xfrm>
            <a:off x="6821424" y="219456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33" name="Shape 31"/>
          <p:cNvSpPr/>
          <p:nvPr/>
        </p:nvSpPr>
        <p:spPr>
          <a:xfrm>
            <a:off x="6821424" y="2194560"/>
            <a:ext cx="2084832" cy="292608"/>
          </a:xfrm>
          <a:prstGeom prst="rect">
            <a:avLst/>
          </a:prstGeom>
          <a:solidFill>
            <a:srgbClr val="1C7293"/>
          </a:solidFill>
          <a:ln w="12700">
            <a:solidFill>
              <a:srgbClr val="1C7293"/>
            </a:solidFill>
            <a:prstDash val="solid"/>
          </a:ln>
        </p:spPr>
      </p:sp>
      <p:sp>
        <p:nvSpPr>
          <p:cNvPr id="34" name="Text 32"/>
          <p:cNvSpPr/>
          <p:nvPr/>
        </p:nvSpPr>
        <p:spPr>
          <a:xfrm>
            <a:off x="6894576" y="223113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Heat Map</a:t>
            </a:r>
            <a:endParaRPr lang="en-US" sz="850" dirty="0"/>
          </a:p>
        </p:txBody>
      </p:sp>
      <p:sp>
        <p:nvSpPr>
          <p:cNvPr id="35" name="Text 33"/>
          <p:cNvSpPr/>
          <p:nvPr/>
        </p:nvSpPr>
        <p:spPr>
          <a:xfrm>
            <a:off x="6894576" y="254203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Funding intensity across disease areas and years</a:t>
            </a:r>
            <a:endParaRPr lang="en-US" sz="800" dirty="0"/>
          </a:p>
        </p:txBody>
      </p:sp>
      <p:sp>
        <p:nvSpPr>
          <p:cNvPr id="36" name="Shape 34"/>
          <p:cNvSpPr/>
          <p:nvPr/>
        </p:nvSpPr>
        <p:spPr>
          <a:xfrm>
            <a:off x="182880" y="361188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37" name="Shape 35"/>
          <p:cNvSpPr/>
          <p:nvPr/>
        </p:nvSpPr>
        <p:spPr>
          <a:xfrm>
            <a:off x="182880" y="3611880"/>
            <a:ext cx="2084832" cy="292608"/>
          </a:xfrm>
          <a:prstGeom prst="rect">
            <a:avLst/>
          </a:prstGeom>
          <a:solidFill>
            <a:srgbClr val="065A82"/>
          </a:solidFill>
          <a:ln w="12700">
            <a:solidFill>
              <a:srgbClr val="065A82"/>
            </a:solidFill>
            <a:prstDash val="solid"/>
          </a:ln>
        </p:spPr>
      </p:sp>
      <p:sp>
        <p:nvSpPr>
          <p:cNvPr id="38" name="Text 36"/>
          <p:cNvSpPr/>
          <p:nvPr/>
        </p:nvSpPr>
        <p:spPr>
          <a:xfrm>
            <a:off x="256032" y="364845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Scatter Plot</a:t>
            </a:r>
            <a:endParaRPr lang="en-US" sz="850" dirty="0"/>
          </a:p>
        </p:txBody>
      </p:sp>
      <p:sp>
        <p:nvSpPr>
          <p:cNvPr id="39" name="Text 37"/>
          <p:cNvSpPr/>
          <p:nvPr/>
        </p:nvSpPr>
        <p:spPr>
          <a:xfrm>
            <a:off x="256032" y="395935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Correlation: 2019 funding vs mortality rates</a:t>
            </a:r>
            <a:endParaRPr lang="en-US" sz="800" dirty="0"/>
          </a:p>
        </p:txBody>
      </p:sp>
      <p:sp>
        <p:nvSpPr>
          <p:cNvPr id="40" name="Shape 38"/>
          <p:cNvSpPr/>
          <p:nvPr/>
        </p:nvSpPr>
        <p:spPr>
          <a:xfrm>
            <a:off x="2395728" y="361188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41" name="Shape 39"/>
          <p:cNvSpPr/>
          <p:nvPr/>
        </p:nvSpPr>
        <p:spPr>
          <a:xfrm>
            <a:off x="2395728" y="3611880"/>
            <a:ext cx="2084832" cy="292608"/>
          </a:xfrm>
          <a:prstGeom prst="rect">
            <a:avLst/>
          </a:prstGeom>
          <a:solidFill>
            <a:srgbClr val="02C39A"/>
          </a:solidFill>
          <a:ln w="12700">
            <a:solidFill>
              <a:srgbClr val="02C39A"/>
            </a:solidFill>
            <a:prstDash val="solid"/>
          </a:ln>
        </p:spPr>
      </p:sp>
      <p:sp>
        <p:nvSpPr>
          <p:cNvPr id="42" name="Text 40"/>
          <p:cNvSpPr/>
          <p:nvPr/>
        </p:nvSpPr>
        <p:spPr>
          <a:xfrm>
            <a:off x="2468880" y="364845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Waterfall Chart</a:t>
            </a:r>
            <a:endParaRPr lang="en-US" sz="850" dirty="0"/>
          </a:p>
        </p:txBody>
      </p:sp>
      <p:sp>
        <p:nvSpPr>
          <p:cNvPr id="43" name="Text 41"/>
          <p:cNvSpPr/>
          <p:nvPr/>
        </p:nvSpPr>
        <p:spPr>
          <a:xfrm>
            <a:off x="2468880" y="395935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Year-on-year incremental funding changes</a:t>
            </a:r>
            <a:endParaRPr lang="en-US" sz="800" dirty="0"/>
          </a:p>
        </p:txBody>
      </p:sp>
      <p:sp>
        <p:nvSpPr>
          <p:cNvPr id="44" name="Shape 42"/>
          <p:cNvSpPr/>
          <p:nvPr/>
        </p:nvSpPr>
        <p:spPr>
          <a:xfrm>
            <a:off x="4608576" y="361188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45" name="Shape 43"/>
          <p:cNvSpPr/>
          <p:nvPr/>
        </p:nvSpPr>
        <p:spPr>
          <a:xfrm>
            <a:off x="4608576" y="3611880"/>
            <a:ext cx="2084832" cy="292608"/>
          </a:xfrm>
          <a:prstGeom prst="rect">
            <a:avLst/>
          </a:prstGeom>
          <a:solidFill>
            <a:srgbClr val="1C7293"/>
          </a:solidFill>
          <a:ln w="12700">
            <a:solidFill>
              <a:srgbClr val="1C7293"/>
            </a:solidFill>
            <a:prstDash val="solid"/>
          </a:ln>
        </p:spPr>
      </p:sp>
      <p:sp>
        <p:nvSpPr>
          <p:cNvPr id="46" name="Text 44"/>
          <p:cNvSpPr/>
          <p:nvPr/>
        </p:nvSpPr>
        <p:spPr>
          <a:xfrm>
            <a:off x="4681728" y="364845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Funnel Chart</a:t>
            </a:r>
            <a:endParaRPr lang="en-US" sz="850" dirty="0"/>
          </a:p>
        </p:txBody>
      </p:sp>
      <p:sp>
        <p:nvSpPr>
          <p:cNvPr id="47" name="Text 45"/>
          <p:cNvSpPr/>
          <p:nvPr/>
        </p:nvSpPr>
        <p:spPr>
          <a:xfrm>
            <a:off x="4681728" y="395935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Funding stage progression and narrowing</a:t>
            </a:r>
            <a:endParaRPr lang="en-US" sz="800" dirty="0"/>
          </a:p>
        </p:txBody>
      </p:sp>
      <p:sp>
        <p:nvSpPr>
          <p:cNvPr id="48" name="Shape 46"/>
          <p:cNvSpPr/>
          <p:nvPr/>
        </p:nvSpPr>
        <p:spPr>
          <a:xfrm>
            <a:off x="6821424" y="3611880"/>
            <a:ext cx="2084832" cy="1298448"/>
          </a:xfrm>
          <a:prstGeom prst="rect">
            <a:avLst/>
          </a:prstGeom>
          <a:solidFill>
            <a:srgbClr val="FFFFFF"/>
          </a:solidFill>
          <a:ln w="12700">
            <a:solidFill>
              <a:srgbClr val="E2EBF3"/>
            </a:solidFill>
            <a:prstDash val="solid"/>
          </a:ln>
          <a:effectLst>
            <a:outerShdw blurRad="50800" dist="12700" dir="8100000" algn="bl" rotWithShape="0">
              <a:srgbClr val="000000">
                <a:alpha val="8000"/>
              </a:srgbClr>
            </a:outerShdw>
          </a:effectLst>
        </p:spPr>
      </p:sp>
      <p:sp>
        <p:nvSpPr>
          <p:cNvPr id="49" name="Shape 47"/>
          <p:cNvSpPr/>
          <p:nvPr/>
        </p:nvSpPr>
        <p:spPr>
          <a:xfrm>
            <a:off x="6821424" y="3611880"/>
            <a:ext cx="2084832" cy="292608"/>
          </a:xfrm>
          <a:prstGeom prst="rect">
            <a:avLst/>
          </a:prstGeom>
          <a:solidFill>
            <a:srgbClr val="065A82"/>
          </a:solidFill>
          <a:ln w="12700">
            <a:solidFill>
              <a:srgbClr val="065A82"/>
            </a:solidFill>
            <a:prstDash val="solid"/>
          </a:ln>
        </p:spPr>
      </p:sp>
      <p:sp>
        <p:nvSpPr>
          <p:cNvPr id="50" name="Text 48"/>
          <p:cNvSpPr/>
          <p:nvPr/>
        </p:nvSpPr>
        <p:spPr>
          <a:xfrm>
            <a:off x="6894576" y="3648456"/>
            <a:ext cx="193852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Whisker Chart</a:t>
            </a:r>
            <a:endParaRPr lang="en-US" sz="850" dirty="0"/>
          </a:p>
        </p:txBody>
      </p:sp>
      <p:sp>
        <p:nvSpPr>
          <p:cNvPr id="51" name="Text 49"/>
          <p:cNvSpPr/>
          <p:nvPr/>
        </p:nvSpPr>
        <p:spPr>
          <a:xfrm>
            <a:off x="6894576" y="3959352"/>
            <a:ext cx="1938528" cy="8686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Funding distribution with min/max ranges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365760" y="18288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09  Key Insights &amp; Conclusions</a:t>
            </a:r>
            <a:endParaRPr lang="en-US" sz="2200" dirty="0"/>
          </a:p>
        </p:txBody>
      </p:sp>
      <p:sp>
        <p:nvSpPr>
          <p:cNvPr id="4" name="Shape 2"/>
          <p:cNvSpPr/>
          <p:nvPr/>
        </p:nvSpPr>
        <p:spPr>
          <a:xfrm>
            <a:off x="274320" y="914400"/>
            <a:ext cx="4206240" cy="1737360"/>
          </a:xfrm>
          <a:prstGeom prst="rect">
            <a:avLst/>
          </a:prstGeom>
          <a:solidFill>
            <a:srgbClr val="0D1B2A"/>
          </a:solidFill>
          <a:ln w="12700">
            <a:solidFill>
              <a:srgbClr val="02C39A"/>
            </a:solidFill>
            <a:prstDash val="solid"/>
          </a:ln>
        </p:spPr>
      </p:sp>
      <p:sp>
        <p:nvSpPr>
          <p:cNvPr id="5" name="Shape 3"/>
          <p:cNvSpPr/>
          <p:nvPr/>
        </p:nvSpPr>
        <p:spPr>
          <a:xfrm>
            <a:off x="411480" y="1051560"/>
            <a:ext cx="384048" cy="384048"/>
          </a:xfrm>
          <a:prstGeom prst="ellipse">
            <a:avLst/>
          </a:prstGeom>
          <a:solidFill>
            <a:srgbClr val="02C39A"/>
          </a:solidFill>
          <a:ln w="12700">
            <a:solidFill>
              <a:srgbClr val="02C39A"/>
            </a:solidFill>
            <a:prstDash val="solid"/>
          </a:ln>
        </p:spPr>
      </p:sp>
      <p:sp>
        <p:nvSpPr>
          <p:cNvPr id="6" name="Text 4"/>
          <p:cNvSpPr/>
          <p:nvPr/>
        </p:nvSpPr>
        <p:spPr>
          <a:xfrm>
            <a:off x="411480" y="1051560"/>
            <a:ext cx="384048" cy="384048"/>
          </a:xfrm>
          <a:prstGeom prst="rect">
            <a:avLst/>
          </a:prstGeom>
          <a:noFill/>
          <a:ln/>
        </p:spPr>
        <p:txBody>
          <a:bodyPr wrap="square"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868680" y="1060704"/>
            <a:ext cx="3474720" cy="365760"/>
          </a:xfrm>
          <a:prstGeom prst="rect">
            <a:avLst/>
          </a:prstGeom>
          <a:noFill/>
          <a:ln/>
        </p:spPr>
        <p:txBody>
          <a:bodyPr wrap="square"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Steady Growth with a 2013 Dip</a:t>
            </a:r>
            <a:endParaRPr lang="en-US" sz="1050" dirty="0"/>
          </a:p>
        </p:txBody>
      </p:sp>
      <p:sp>
        <p:nvSpPr>
          <p:cNvPr id="8" name="Text 6"/>
          <p:cNvSpPr/>
          <p:nvPr/>
        </p:nvSpPr>
        <p:spPr>
          <a:xfrm>
            <a:off x="411480" y="1508760"/>
            <a:ext cx="3931920" cy="1005840"/>
          </a:xfrm>
          <a:prstGeom prst="rect">
            <a:avLst/>
          </a:prstGeom>
          <a:noFill/>
          <a:ln/>
        </p:spPr>
        <p:txBody>
          <a:bodyPr wrap="square" rtlCol="0" anchor="ctr"/>
          <a:lstStyle/>
          <a:p>
            <a:pPr marL="0" indent="0">
              <a:buNone/>
            </a:pPr>
            <a:r>
              <a:rPr lang="en-US" sz="900" dirty="0">
                <a:solidFill>
                  <a:srgbClr val="A0BDD0"/>
                </a:solidFill>
                <a:latin typeface="Calibri" pitchFamily="34" charset="0"/>
                <a:ea typeface="Calibri" pitchFamily="34" charset="-122"/>
                <a:cs typeface="Calibri" pitchFamily="34" charset="-120"/>
              </a:rPr>
              <a:t>NIH funding grew 135% from 2008 to 2022. The only noticeable dip was in 2013 during the budget sequestration. Post-2016 growth was especially steep.</a:t>
            </a:r>
            <a:endParaRPr lang="en-US" sz="900" dirty="0"/>
          </a:p>
        </p:txBody>
      </p:sp>
      <p:sp>
        <p:nvSpPr>
          <p:cNvPr id="9" name="Shape 7"/>
          <p:cNvSpPr/>
          <p:nvPr/>
        </p:nvSpPr>
        <p:spPr>
          <a:xfrm>
            <a:off x="4709160" y="914400"/>
            <a:ext cx="4206240" cy="1737360"/>
          </a:xfrm>
          <a:prstGeom prst="rect">
            <a:avLst/>
          </a:prstGeom>
          <a:solidFill>
            <a:srgbClr val="0D1B2A"/>
          </a:solidFill>
          <a:ln w="12700">
            <a:solidFill>
              <a:srgbClr val="F9A825"/>
            </a:solidFill>
            <a:prstDash val="solid"/>
          </a:ln>
        </p:spPr>
      </p:sp>
      <p:sp>
        <p:nvSpPr>
          <p:cNvPr id="10" name="Shape 8"/>
          <p:cNvSpPr/>
          <p:nvPr/>
        </p:nvSpPr>
        <p:spPr>
          <a:xfrm>
            <a:off x="4846320" y="1051560"/>
            <a:ext cx="384048" cy="384048"/>
          </a:xfrm>
          <a:prstGeom prst="ellipse">
            <a:avLst/>
          </a:prstGeom>
          <a:solidFill>
            <a:srgbClr val="F9A825"/>
          </a:solidFill>
          <a:ln w="12700">
            <a:solidFill>
              <a:srgbClr val="F9A825"/>
            </a:solidFill>
            <a:prstDash val="solid"/>
          </a:ln>
        </p:spPr>
      </p:sp>
      <p:sp>
        <p:nvSpPr>
          <p:cNvPr id="11" name="Text 9"/>
          <p:cNvSpPr/>
          <p:nvPr/>
        </p:nvSpPr>
        <p:spPr>
          <a:xfrm>
            <a:off x="4846320" y="1051560"/>
            <a:ext cx="384048" cy="384048"/>
          </a:xfrm>
          <a:prstGeom prst="rect">
            <a:avLst/>
          </a:prstGeom>
          <a:noFill/>
          <a:ln/>
        </p:spPr>
        <p:txBody>
          <a:bodyPr wrap="square"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02</a:t>
            </a:r>
            <a:endParaRPr lang="en-US" sz="1000" dirty="0"/>
          </a:p>
        </p:txBody>
      </p:sp>
      <p:sp>
        <p:nvSpPr>
          <p:cNvPr id="12" name="Text 10"/>
          <p:cNvSpPr/>
          <p:nvPr/>
        </p:nvSpPr>
        <p:spPr>
          <a:xfrm>
            <a:off x="5303520" y="1060704"/>
            <a:ext cx="3474720" cy="365760"/>
          </a:xfrm>
          <a:prstGeom prst="rect">
            <a:avLst/>
          </a:prstGeom>
          <a:noFill/>
          <a:ln/>
        </p:spPr>
        <p:txBody>
          <a:bodyPr wrap="square" rtlCol="0" anchor="ctr"/>
          <a:lstStyle/>
          <a:p>
            <a:pPr marL="0" indent="0">
              <a:buNone/>
            </a:pPr>
            <a:r>
              <a:rPr lang="en-US" sz="1050" b="1" dirty="0">
                <a:solidFill>
                  <a:srgbClr val="F9A825"/>
                </a:solidFill>
                <a:latin typeface="Calibri" pitchFamily="34" charset="0"/>
                <a:ea typeface="Calibri" pitchFamily="34" charset="-122"/>
                <a:cs typeface="Calibri" pitchFamily="34" charset="-120"/>
              </a:rPr>
              <a:t>Chronic Disease Underfunding Relative to Burden</a:t>
            </a:r>
            <a:endParaRPr lang="en-US" sz="1050" dirty="0"/>
          </a:p>
        </p:txBody>
      </p:sp>
      <p:sp>
        <p:nvSpPr>
          <p:cNvPr id="13" name="Text 11"/>
          <p:cNvSpPr/>
          <p:nvPr/>
        </p:nvSpPr>
        <p:spPr>
          <a:xfrm>
            <a:off x="4846320" y="1508760"/>
            <a:ext cx="3931920" cy="1005840"/>
          </a:xfrm>
          <a:prstGeom prst="rect">
            <a:avLst/>
          </a:prstGeom>
          <a:noFill/>
          <a:ln/>
        </p:spPr>
        <p:txBody>
          <a:bodyPr wrap="square" rtlCol="0" anchor="ctr"/>
          <a:lstStyle/>
          <a:p>
            <a:pPr marL="0" indent="0">
              <a:buNone/>
            </a:pPr>
            <a:r>
              <a:rPr lang="en-US" sz="900" dirty="0">
                <a:solidFill>
                  <a:srgbClr val="A0BDD0"/>
                </a:solidFill>
                <a:latin typeface="Calibri" pitchFamily="34" charset="0"/>
                <a:ea typeface="Calibri" pitchFamily="34" charset="-122"/>
                <a:cs typeface="Calibri" pitchFamily="34" charset="-120"/>
              </a:rPr>
              <a:t>Heart disease kills ~1.6M Americans a year but receives far less proportional funding than Cancer. This signals a potential policy gap worth addressing.</a:t>
            </a:r>
            <a:endParaRPr lang="en-US" sz="900" dirty="0"/>
          </a:p>
        </p:txBody>
      </p:sp>
      <p:sp>
        <p:nvSpPr>
          <p:cNvPr id="14" name="Shape 12"/>
          <p:cNvSpPr/>
          <p:nvPr/>
        </p:nvSpPr>
        <p:spPr>
          <a:xfrm>
            <a:off x="274320" y="2834640"/>
            <a:ext cx="4206240" cy="1737360"/>
          </a:xfrm>
          <a:prstGeom prst="rect">
            <a:avLst/>
          </a:prstGeom>
          <a:solidFill>
            <a:srgbClr val="0D1B2A"/>
          </a:solidFill>
          <a:ln w="12700">
            <a:solidFill>
              <a:srgbClr val="1C7293"/>
            </a:solidFill>
            <a:prstDash val="solid"/>
          </a:ln>
        </p:spPr>
      </p:sp>
      <p:sp>
        <p:nvSpPr>
          <p:cNvPr id="15" name="Shape 13"/>
          <p:cNvSpPr/>
          <p:nvPr/>
        </p:nvSpPr>
        <p:spPr>
          <a:xfrm>
            <a:off x="411480" y="2971800"/>
            <a:ext cx="384048" cy="384048"/>
          </a:xfrm>
          <a:prstGeom prst="ellipse">
            <a:avLst/>
          </a:prstGeom>
          <a:solidFill>
            <a:srgbClr val="1C7293"/>
          </a:solidFill>
          <a:ln w="12700">
            <a:solidFill>
              <a:srgbClr val="1C7293"/>
            </a:solidFill>
            <a:prstDash val="solid"/>
          </a:ln>
        </p:spPr>
      </p:sp>
      <p:sp>
        <p:nvSpPr>
          <p:cNvPr id="16" name="Text 14"/>
          <p:cNvSpPr/>
          <p:nvPr/>
        </p:nvSpPr>
        <p:spPr>
          <a:xfrm>
            <a:off x="411480" y="2971800"/>
            <a:ext cx="384048" cy="384048"/>
          </a:xfrm>
          <a:prstGeom prst="rect">
            <a:avLst/>
          </a:prstGeom>
          <a:noFill/>
          <a:ln/>
        </p:spPr>
        <p:txBody>
          <a:bodyPr wrap="square"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03</a:t>
            </a:r>
            <a:endParaRPr lang="en-US" sz="1000" dirty="0"/>
          </a:p>
        </p:txBody>
      </p:sp>
      <p:sp>
        <p:nvSpPr>
          <p:cNvPr id="17" name="Text 15"/>
          <p:cNvSpPr/>
          <p:nvPr/>
        </p:nvSpPr>
        <p:spPr>
          <a:xfrm>
            <a:off x="868680" y="2980944"/>
            <a:ext cx="3474720" cy="365760"/>
          </a:xfrm>
          <a:prstGeom prst="rect">
            <a:avLst/>
          </a:prstGeom>
          <a:noFill/>
          <a:ln/>
        </p:spPr>
        <p:txBody>
          <a:bodyPr wrap="square"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ARRA Provided Meaningful Short-Term Boosts</a:t>
            </a:r>
            <a:endParaRPr lang="en-US" sz="1050" dirty="0"/>
          </a:p>
        </p:txBody>
      </p:sp>
      <p:sp>
        <p:nvSpPr>
          <p:cNvPr id="18" name="Text 16"/>
          <p:cNvSpPr/>
          <p:nvPr/>
        </p:nvSpPr>
        <p:spPr>
          <a:xfrm>
            <a:off x="411480" y="3429000"/>
            <a:ext cx="3931920" cy="1005840"/>
          </a:xfrm>
          <a:prstGeom prst="rect">
            <a:avLst/>
          </a:prstGeom>
          <a:noFill/>
          <a:ln/>
        </p:spPr>
        <p:txBody>
          <a:bodyPr wrap="square" rtlCol="0" anchor="ctr"/>
          <a:lstStyle/>
          <a:p>
            <a:pPr marL="0" indent="0">
              <a:buNone/>
            </a:pPr>
            <a:r>
              <a:rPr lang="en-US" sz="900" dirty="0">
                <a:solidFill>
                  <a:srgbClr val="A0BDD0"/>
                </a:solidFill>
                <a:latin typeface="Calibri" pitchFamily="34" charset="0"/>
                <a:ea typeface="Calibri" pitchFamily="34" charset="-122"/>
                <a:cs typeface="Calibri" pitchFamily="34" charset="-120"/>
              </a:rPr>
              <a:t>ARRA funding in 2009/2010 added hundreds of millions to top research areas. However, these were one-off boosts — sustained funding matters more for long-term outcomes.</a:t>
            </a:r>
            <a:endParaRPr lang="en-US" sz="900" dirty="0"/>
          </a:p>
        </p:txBody>
      </p:sp>
      <p:sp>
        <p:nvSpPr>
          <p:cNvPr id="19" name="Shape 17"/>
          <p:cNvSpPr/>
          <p:nvPr/>
        </p:nvSpPr>
        <p:spPr>
          <a:xfrm>
            <a:off x="4709160" y="2834640"/>
            <a:ext cx="4206240" cy="1737360"/>
          </a:xfrm>
          <a:prstGeom prst="rect">
            <a:avLst/>
          </a:prstGeom>
          <a:solidFill>
            <a:srgbClr val="0D1B2A"/>
          </a:solidFill>
          <a:ln w="12700">
            <a:solidFill>
              <a:srgbClr val="9B59B6"/>
            </a:solidFill>
            <a:prstDash val="solid"/>
          </a:ln>
        </p:spPr>
      </p:sp>
      <p:sp>
        <p:nvSpPr>
          <p:cNvPr id="20" name="Shape 18"/>
          <p:cNvSpPr/>
          <p:nvPr/>
        </p:nvSpPr>
        <p:spPr>
          <a:xfrm>
            <a:off x="4846320" y="2971800"/>
            <a:ext cx="384048" cy="384048"/>
          </a:xfrm>
          <a:prstGeom prst="ellipse">
            <a:avLst/>
          </a:prstGeom>
          <a:solidFill>
            <a:srgbClr val="9B59B6"/>
          </a:solidFill>
          <a:ln w="12700">
            <a:solidFill>
              <a:srgbClr val="9B59B6"/>
            </a:solidFill>
            <a:prstDash val="solid"/>
          </a:ln>
        </p:spPr>
      </p:sp>
      <p:sp>
        <p:nvSpPr>
          <p:cNvPr id="21" name="Text 19"/>
          <p:cNvSpPr/>
          <p:nvPr/>
        </p:nvSpPr>
        <p:spPr>
          <a:xfrm>
            <a:off x="4846320" y="2971800"/>
            <a:ext cx="384048" cy="384048"/>
          </a:xfrm>
          <a:prstGeom prst="rect">
            <a:avLst/>
          </a:prstGeom>
          <a:noFill/>
          <a:ln/>
        </p:spPr>
        <p:txBody>
          <a:bodyPr wrap="square"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04</a:t>
            </a:r>
            <a:endParaRPr lang="en-US" sz="1000" dirty="0"/>
          </a:p>
        </p:txBody>
      </p:sp>
      <p:sp>
        <p:nvSpPr>
          <p:cNvPr id="22" name="Text 20"/>
          <p:cNvSpPr/>
          <p:nvPr/>
        </p:nvSpPr>
        <p:spPr>
          <a:xfrm>
            <a:off x="5303520" y="2980944"/>
            <a:ext cx="3474720" cy="365760"/>
          </a:xfrm>
          <a:prstGeom prst="rect">
            <a:avLst/>
          </a:prstGeom>
          <a:noFill/>
          <a:ln/>
        </p:spPr>
        <p:txBody>
          <a:bodyPr wrap="square" rtlCol="0" anchor="ctr"/>
          <a:lstStyle/>
          <a:p>
            <a:pPr marL="0" indent="0">
              <a:buNone/>
            </a:pPr>
            <a:r>
              <a:rPr lang="en-US" sz="1050" b="1" dirty="0">
                <a:solidFill>
                  <a:srgbClr val="9B59B6"/>
                </a:solidFill>
                <a:latin typeface="Calibri" pitchFamily="34" charset="0"/>
                <a:ea typeface="Calibri" pitchFamily="34" charset="-122"/>
                <a:cs typeface="Calibri" pitchFamily="34" charset="-120"/>
              </a:rPr>
              <a:t>Prevention &amp; Genetics Are Rising Priority Areas</a:t>
            </a:r>
            <a:endParaRPr lang="en-US" sz="1050" dirty="0"/>
          </a:p>
        </p:txBody>
      </p:sp>
      <p:sp>
        <p:nvSpPr>
          <p:cNvPr id="23" name="Text 21"/>
          <p:cNvSpPr/>
          <p:nvPr/>
        </p:nvSpPr>
        <p:spPr>
          <a:xfrm>
            <a:off x="4846320" y="3429000"/>
            <a:ext cx="3931920" cy="1005840"/>
          </a:xfrm>
          <a:prstGeom prst="rect">
            <a:avLst/>
          </a:prstGeom>
          <a:noFill/>
          <a:ln/>
        </p:spPr>
        <p:txBody>
          <a:bodyPr wrap="square" rtlCol="0" anchor="ctr"/>
          <a:lstStyle/>
          <a:p>
            <a:pPr marL="0" indent="0">
              <a:buNone/>
            </a:pPr>
            <a:r>
              <a:rPr lang="en-US" sz="900" dirty="0">
                <a:solidFill>
                  <a:srgbClr val="A0BDD0"/>
                </a:solidFill>
                <a:latin typeface="Calibri" pitchFamily="34" charset="0"/>
                <a:ea typeface="Calibri" pitchFamily="34" charset="-122"/>
                <a:cs typeface="Calibri" pitchFamily="34" charset="-120"/>
              </a:rPr>
              <a:t>Both show above-average growth rates post-2015, consistent with an industry-wide push toward precision medicine and proactive healthcare.</a:t>
            </a:r>
            <a:endParaRPr lang="en-US" sz="900" dirty="0"/>
          </a:p>
        </p:txBody>
      </p:sp>
      <p:sp>
        <p:nvSpPr>
          <p:cNvPr id="24" name="Text 22"/>
          <p:cNvSpPr/>
          <p:nvPr/>
        </p:nvSpPr>
        <p:spPr>
          <a:xfrm>
            <a:off x="365760" y="4663440"/>
            <a:ext cx="8412480" cy="320040"/>
          </a:xfrm>
          <a:prstGeom prst="rect">
            <a:avLst/>
          </a:prstGeom>
          <a:noFill/>
          <a:ln/>
        </p:spPr>
        <p:txBody>
          <a:bodyPr wrap="square" rtlCol="0" anchor="ctr"/>
          <a:lstStyle/>
          <a:p>
            <a:pPr marL="0" indent="0" algn="ctr">
              <a:buNone/>
            </a:pPr>
            <a:r>
              <a:rPr lang="en-US" sz="1000" i="1" dirty="0">
                <a:solidFill>
                  <a:srgbClr val="4A6880"/>
                </a:solidFill>
                <a:latin typeface="Calibri" pitchFamily="34" charset="0"/>
                <a:ea typeface="Calibri" pitchFamily="34" charset="-122"/>
                <a:cs typeface="Calibri" pitchFamily="34" charset="-120"/>
              </a:rPr>
              <a:t>This project helped me understand not just Tableau mechanics, but how data tells real public health stories.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65A82"/>
          </a:solidFill>
          <a:ln w="12700">
            <a:solidFill>
              <a:srgbClr val="065A82"/>
            </a:solidFill>
            <a:prstDash val="solid"/>
          </a:ln>
        </p:spPr>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10  Actionable Recommendations</a:t>
            </a:r>
            <a:endParaRPr lang="en-US" sz="1800" dirty="0"/>
          </a:p>
        </p:txBody>
      </p:sp>
      <p:sp>
        <p:nvSpPr>
          <p:cNvPr id="4" name="Shape 2"/>
          <p:cNvSpPr/>
          <p:nvPr/>
        </p:nvSpPr>
        <p:spPr>
          <a:xfrm>
            <a:off x="274320" y="804672"/>
            <a:ext cx="8595360" cy="932688"/>
          </a:xfrm>
          <a:prstGeom prst="rect">
            <a:avLst/>
          </a:prstGeom>
          <a:solidFill>
            <a:srgbClr val="FFFFFF"/>
          </a:solidFill>
          <a:ln w="12700">
            <a:solidFill>
              <a:srgbClr val="E2EBF3"/>
            </a:solidFill>
            <a:prstDash val="solid"/>
          </a:ln>
        </p:spPr>
      </p:sp>
      <p:sp>
        <p:nvSpPr>
          <p:cNvPr id="5" name="Shape 3"/>
          <p:cNvSpPr/>
          <p:nvPr/>
        </p:nvSpPr>
        <p:spPr>
          <a:xfrm>
            <a:off x="274320" y="804672"/>
            <a:ext cx="91440" cy="932688"/>
          </a:xfrm>
          <a:prstGeom prst="rect">
            <a:avLst/>
          </a:prstGeom>
          <a:solidFill>
            <a:srgbClr val="E53E3E"/>
          </a:solidFill>
          <a:ln w="12700">
            <a:solidFill>
              <a:srgbClr val="E53E3E"/>
            </a:solidFill>
            <a:prstDash val="solid"/>
          </a:ln>
        </p:spPr>
      </p:sp>
      <p:sp>
        <p:nvSpPr>
          <p:cNvPr id="6" name="Shape 4"/>
          <p:cNvSpPr/>
          <p:nvPr/>
        </p:nvSpPr>
        <p:spPr>
          <a:xfrm>
            <a:off x="457200" y="877824"/>
            <a:ext cx="731520" cy="256032"/>
          </a:xfrm>
          <a:prstGeom prst="roundRect">
            <a:avLst>
              <a:gd name="adj" fmla="val 17857"/>
            </a:avLst>
          </a:prstGeom>
          <a:solidFill>
            <a:srgbClr val="E53E3E"/>
          </a:solidFill>
          <a:ln w="12700">
            <a:solidFill>
              <a:srgbClr val="E53E3E"/>
            </a:solidFill>
            <a:prstDash val="solid"/>
          </a:ln>
        </p:spPr>
      </p:sp>
      <p:sp>
        <p:nvSpPr>
          <p:cNvPr id="7" name="Text 5"/>
          <p:cNvSpPr/>
          <p:nvPr/>
        </p:nvSpPr>
        <p:spPr>
          <a:xfrm>
            <a:off x="457200" y="877824"/>
            <a:ext cx="731520"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Policy</a:t>
            </a:r>
            <a:endParaRPr lang="en-US" sz="800" dirty="0"/>
          </a:p>
        </p:txBody>
      </p:sp>
      <p:sp>
        <p:nvSpPr>
          <p:cNvPr id="8" name="Text 6"/>
          <p:cNvSpPr/>
          <p:nvPr/>
        </p:nvSpPr>
        <p:spPr>
          <a:xfrm>
            <a:off x="1298448" y="877824"/>
            <a:ext cx="7406640" cy="274320"/>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Re-evaluate Heart Disease Funding</a:t>
            </a:r>
            <a:endParaRPr lang="en-US" sz="1100" dirty="0"/>
          </a:p>
        </p:txBody>
      </p:sp>
      <p:sp>
        <p:nvSpPr>
          <p:cNvPr id="9" name="Text 7"/>
          <p:cNvSpPr/>
          <p:nvPr/>
        </p:nvSpPr>
        <p:spPr>
          <a:xfrm>
            <a:off x="1298448" y="1188720"/>
            <a:ext cx="7406640" cy="47548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Given its disproportionate mortality burden, cardiovascular research deserves additional NIH allocation. A scatter plot analysis clearly shows this gap. Recommendation: Increase by at least 20% over next 5 years.</a:t>
            </a:r>
            <a:endParaRPr lang="en-US" sz="950" dirty="0"/>
          </a:p>
        </p:txBody>
      </p:sp>
      <p:sp>
        <p:nvSpPr>
          <p:cNvPr id="10" name="Shape 8"/>
          <p:cNvSpPr/>
          <p:nvPr/>
        </p:nvSpPr>
        <p:spPr>
          <a:xfrm>
            <a:off x="274320" y="1828800"/>
            <a:ext cx="8595360" cy="932688"/>
          </a:xfrm>
          <a:prstGeom prst="rect">
            <a:avLst/>
          </a:prstGeom>
          <a:solidFill>
            <a:srgbClr val="FFFFFF"/>
          </a:solidFill>
          <a:ln w="12700">
            <a:solidFill>
              <a:srgbClr val="E2EBF3"/>
            </a:solidFill>
            <a:prstDash val="solid"/>
          </a:ln>
        </p:spPr>
      </p:sp>
      <p:sp>
        <p:nvSpPr>
          <p:cNvPr id="11" name="Shape 9"/>
          <p:cNvSpPr/>
          <p:nvPr/>
        </p:nvSpPr>
        <p:spPr>
          <a:xfrm>
            <a:off x="274320" y="1828800"/>
            <a:ext cx="91440" cy="932688"/>
          </a:xfrm>
          <a:prstGeom prst="rect">
            <a:avLst/>
          </a:prstGeom>
          <a:solidFill>
            <a:srgbClr val="38A169"/>
          </a:solidFill>
          <a:ln w="12700">
            <a:solidFill>
              <a:srgbClr val="38A169"/>
            </a:solidFill>
            <a:prstDash val="solid"/>
          </a:ln>
        </p:spPr>
      </p:sp>
      <p:sp>
        <p:nvSpPr>
          <p:cNvPr id="12" name="Shape 10"/>
          <p:cNvSpPr/>
          <p:nvPr/>
        </p:nvSpPr>
        <p:spPr>
          <a:xfrm>
            <a:off x="457200" y="1901952"/>
            <a:ext cx="731520" cy="256032"/>
          </a:xfrm>
          <a:prstGeom prst="roundRect">
            <a:avLst>
              <a:gd name="adj" fmla="val 17857"/>
            </a:avLst>
          </a:prstGeom>
          <a:solidFill>
            <a:srgbClr val="38A169"/>
          </a:solidFill>
          <a:ln w="12700">
            <a:solidFill>
              <a:srgbClr val="38A169"/>
            </a:solidFill>
            <a:prstDash val="solid"/>
          </a:ln>
        </p:spPr>
      </p:sp>
      <p:sp>
        <p:nvSpPr>
          <p:cNvPr id="13" name="Text 11"/>
          <p:cNvSpPr/>
          <p:nvPr/>
        </p:nvSpPr>
        <p:spPr>
          <a:xfrm>
            <a:off x="457200" y="1901952"/>
            <a:ext cx="731520"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Strategy</a:t>
            </a:r>
            <a:endParaRPr lang="en-US" sz="800" dirty="0"/>
          </a:p>
        </p:txBody>
      </p:sp>
      <p:sp>
        <p:nvSpPr>
          <p:cNvPr id="14" name="Text 12"/>
          <p:cNvSpPr/>
          <p:nvPr/>
        </p:nvSpPr>
        <p:spPr>
          <a:xfrm>
            <a:off x="1298448" y="1901952"/>
            <a:ext cx="7406640" cy="274320"/>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Sustain Prevention Investments</a:t>
            </a:r>
            <a:endParaRPr lang="en-US" sz="1100" dirty="0"/>
          </a:p>
        </p:txBody>
      </p:sp>
      <p:sp>
        <p:nvSpPr>
          <p:cNvPr id="15" name="Text 13"/>
          <p:cNvSpPr/>
          <p:nvPr/>
        </p:nvSpPr>
        <p:spPr>
          <a:xfrm>
            <a:off x="1298448" y="2212848"/>
            <a:ext cx="7406640" cy="47548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Prevention shows strong ROI — preventing disease is cheaper than treating it. The upward trend must not be reversed in future budget cycles.</a:t>
            </a:r>
            <a:endParaRPr lang="en-US" sz="950" dirty="0"/>
          </a:p>
        </p:txBody>
      </p:sp>
      <p:sp>
        <p:nvSpPr>
          <p:cNvPr id="16" name="Shape 14"/>
          <p:cNvSpPr/>
          <p:nvPr/>
        </p:nvSpPr>
        <p:spPr>
          <a:xfrm>
            <a:off x="274320" y="2852928"/>
            <a:ext cx="8595360" cy="932688"/>
          </a:xfrm>
          <a:prstGeom prst="rect">
            <a:avLst/>
          </a:prstGeom>
          <a:solidFill>
            <a:srgbClr val="FFFFFF"/>
          </a:solidFill>
          <a:ln w="12700">
            <a:solidFill>
              <a:srgbClr val="E2EBF3"/>
            </a:solidFill>
            <a:prstDash val="solid"/>
          </a:ln>
        </p:spPr>
      </p:sp>
      <p:sp>
        <p:nvSpPr>
          <p:cNvPr id="17" name="Shape 15"/>
          <p:cNvSpPr/>
          <p:nvPr/>
        </p:nvSpPr>
        <p:spPr>
          <a:xfrm>
            <a:off x="274320" y="2852928"/>
            <a:ext cx="91440" cy="932688"/>
          </a:xfrm>
          <a:prstGeom prst="rect">
            <a:avLst/>
          </a:prstGeom>
          <a:solidFill>
            <a:srgbClr val="1C7293"/>
          </a:solidFill>
          <a:ln w="12700">
            <a:solidFill>
              <a:srgbClr val="1C7293"/>
            </a:solidFill>
            <a:prstDash val="solid"/>
          </a:ln>
        </p:spPr>
      </p:sp>
      <p:sp>
        <p:nvSpPr>
          <p:cNvPr id="18" name="Shape 16"/>
          <p:cNvSpPr/>
          <p:nvPr/>
        </p:nvSpPr>
        <p:spPr>
          <a:xfrm>
            <a:off x="457200" y="2926080"/>
            <a:ext cx="731520" cy="256032"/>
          </a:xfrm>
          <a:prstGeom prst="roundRect">
            <a:avLst>
              <a:gd name="adj" fmla="val 17857"/>
            </a:avLst>
          </a:prstGeom>
          <a:solidFill>
            <a:srgbClr val="1C7293"/>
          </a:solidFill>
          <a:ln w="12700">
            <a:solidFill>
              <a:srgbClr val="1C7293"/>
            </a:solidFill>
            <a:prstDash val="solid"/>
          </a:ln>
        </p:spPr>
      </p:sp>
      <p:sp>
        <p:nvSpPr>
          <p:cNvPr id="19" name="Text 17"/>
          <p:cNvSpPr/>
          <p:nvPr/>
        </p:nvSpPr>
        <p:spPr>
          <a:xfrm>
            <a:off x="457200" y="2926080"/>
            <a:ext cx="731520"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a:t>
            </a:r>
            <a:endParaRPr lang="en-US" sz="800" dirty="0"/>
          </a:p>
        </p:txBody>
      </p:sp>
      <p:sp>
        <p:nvSpPr>
          <p:cNvPr id="20" name="Text 18"/>
          <p:cNvSpPr/>
          <p:nvPr/>
        </p:nvSpPr>
        <p:spPr>
          <a:xfrm>
            <a:off x="1298448" y="2926080"/>
            <a:ext cx="7406640" cy="274320"/>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Expand Estimated Funding Transparency</a:t>
            </a:r>
            <a:endParaRPr lang="en-US" sz="1100" dirty="0"/>
          </a:p>
        </p:txBody>
      </p:sp>
      <p:sp>
        <p:nvSpPr>
          <p:cNvPr id="21" name="Text 19"/>
          <p:cNvSpPr/>
          <p:nvPr/>
        </p:nvSpPr>
        <p:spPr>
          <a:xfrm>
            <a:off x="1298448" y="3236976"/>
            <a:ext cx="7406640" cy="47548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dataset's 2023/2024 estimates lack granularity. Stakeholders should push for more detailed projected allocations to enable better planning.</a:t>
            </a:r>
            <a:endParaRPr lang="en-US" sz="950" dirty="0"/>
          </a:p>
        </p:txBody>
      </p:sp>
      <p:sp>
        <p:nvSpPr>
          <p:cNvPr id="22" name="Shape 20"/>
          <p:cNvSpPr/>
          <p:nvPr/>
        </p:nvSpPr>
        <p:spPr>
          <a:xfrm>
            <a:off x="274320" y="3877056"/>
            <a:ext cx="8595360" cy="932688"/>
          </a:xfrm>
          <a:prstGeom prst="rect">
            <a:avLst/>
          </a:prstGeom>
          <a:solidFill>
            <a:srgbClr val="FFFFFF"/>
          </a:solidFill>
          <a:ln w="12700">
            <a:solidFill>
              <a:srgbClr val="E2EBF3"/>
            </a:solidFill>
            <a:prstDash val="solid"/>
          </a:ln>
        </p:spPr>
      </p:sp>
      <p:sp>
        <p:nvSpPr>
          <p:cNvPr id="23" name="Shape 21"/>
          <p:cNvSpPr/>
          <p:nvPr/>
        </p:nvSpPr>
        <p:spPr>
          <a:xfrm>
            <a:off x="274320" y="3877056"/>
            <a:ext cx="91440" cy="932688"/>
          </a:xfrm>
          <a:prstGeom prst="rect">
            <a:avLst/>
          </a:prstGeom>
          <a:solidFill>
            <a:srgbClr val="F9A825"/>
          </a:solidFill>
          <a:ln w="12700">
            <a:solidFill>
              <a:srgbClr val="F9A825"/>
            </a:solidFill>
            <a:prstDash val="solid"/>
          </a:ln>
        </p:spPr>
      </p:sp>
      <p:sp>
        <p:nvSpPr>
          <p:cNvPr id="24" name="Shape 22"/>
          <p:cNvSpPr/>
          <p:nvPr/>
        </p:nvSpPr>
        <p:spPr>
          <a:xfrm>
            <a:off x="457200" y="3950208"/>
            <a:ext cx="731520" cy="256032"/>
          </a:xfrm>
          <a:prstGeom prst="roundRect">
            <a:avLst>
              <a:gd name="adj" fmla="val 17857"/>
            </a:avLst>
          </a:prstGeom>
          <a:solidFill>
            <a:srgbClr val="F9A825"/>
          </a:solidFill>
          <a:ln w="12700">
            <a:solidFill>
              <a:srgbClr val="F9A825"/>
            </a:solidFill>
            <a:prstDash val="solid"/>
          </a:ln>
        </p:spPr>
      </p:sp>
      <p:sp>
        <p:nvSpPr>
          <p:cNvPr id="25" name="Text 23"/>
          <p:cNvSpPr/>
          <p:nvPr/>
        </p:nvSpPr>
        <p:spPr>
          <a:xfrm>
            <a:off x="457200" y="3950208"/>
            <a:ext cx="731520"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Technology</a:t>
            </a:r>
            <a:endParaRPr lang="en-US" sz="800" dirty="0"/>
          </a:p>
        </p:txBody>
      </p:sp>
      <p:sp>
        <p:nvSpPr>
          <p:cNvPr id="26" name="Text 24"/>
          <p:cNvSpPr/>
          <p:nvPr/>
        </p:nvSpPr>
        <p:spPr>
          <a:xfrm>
            <a:off x="1298448" y="3950208"/>
            <a:ext cx="7406640" cy="274320"/>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Use Dashboards for Real-Time Monitoring</a:t>
            </a:r>
            <a:endParaRPr lang="en-US" sz="1100" dirty="0"/>
          </a:p>
        </p:txBody>
      </p:sp>
      <p:sp>
        <p:nvSpPr>
          <p:cNvPr id="27" name="Text 25"/>
          <p:cNvSpPr/>
          <p:nvPr/>
        </p:nvSpPr>
        <p:spPr>
          <a:xfrm>
            <a:off x="1298448" y="4261104"/>
            <a:ext cx="7406640" cy="47548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Tableau dashboard built in this project could serve as a live monitoring tool for NIH program officers if connected to updated data feeds.</a:t>
            </a:r>
            <a:endParaRPr lang="en-US" sz="950" dirty="0"/>
          </a:p>
        </p:txBody>
      </p:sp>
      <p:sp>
        <p:nvSpPr>
          <p:cNvPr id="28" name="Text 26"/>
          <p:cNvSpPr/>
          <p:nvPr/>
        </p:nvSpPr>
        <p:spPr>
          <a:xfrm>
            <a:off x="274320" y="4892040"/>
            <a:ext cx="8595360" cy="22860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Tool used: Tableau &amp; Power BI</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w="12700">
            <a:solidFill>
              <a:srgbClr val="02C39A"/>
            </a:solidFill>
            <a:prstDash val="solid"/>
          </a:ln>
        </p:spPr>
      </p:sp>
      <p:sp>
        <p:nvSpPr>
          <p:cNvPr id="3" name="Shape 1"/>
          <p:cNvSpPr/>
          <p:nvPr/>
        </p:nvSpPr>
        <p:spPr>
          <a:xfrm>
            <a:off x="164592" y="5070348"/>
            <a:ext cx="8979408" cy="73152"/>
          </a:xfrm>
          <a:prstGeom prst="rect">
            <a:avLst/>
          </a:prstGeom>
          <a:solidFill>
            <a:srgbClr val="1C7293"/>
          </a:solidFill>
          <a:ln w="12700">
            <a:solidFill>
              <a:srgbClr val="1C7293"/>
            </a:solidFill>
            <a:prstDash val="solid"/>
          </a:ln>
        </p:spPr>
      </p:sp>
      <p:sp>
        <p:nvSpPr>
          <p:cNvPr id="4" name="Text 2"/>
          <p:cNvSpPr/>
          <p:nvPr/>
        </p:nvSpPr>
        <p:spPr>
          <a:xfrm>
            <a:off x="457200" y="1097280"/>
            <a:ext cx="8229600" cy="914400"/>
          </a:xfrm>
          <a:prstGeom prst="rect">
            <a:avLst/>
          </a:prstGeom>
          <a:noFill/>
          <a:ln/>
        </p:spPr>
        <p:txBody>
          <a:bodyPr wrap="square" rtlCol="0" anchor="ctr"/>
          <a:lstStyle/>
          <a:p>
            <a:pPr marL="0" indent="0" algn="l">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5" name="Text 3"/>
          <p:cNvSpPr/>
          <p:nvPr/>
        </p:nvSpPr>
        <p:spPr>
          <a:xfrm>
            <a:off x="457200" y="2057400"/>
            <a:ext cx="6858000" cy="457200"/>
          </a:xfrm>
          <a:prstGeom prst="rect">
            <a:avLst/>
          </a:prstGeom>
          <a:noFill/>
          <a:ln/>
        </p:spPr>
        <p:txBody>
          <a:bodyPr wrap="square" rtlCol="0" anchor="ctr"/>
          <a:lstStyle/>
          <a:p>
            <a:pPr marL="0" indent="0" algn="l">
              <a:buNone/>
            </a:pPr>
            <a:r>
              <a:rPr lang="en-US" sz="1600" dirty="0">
                <a:solidFill>
                  <a:srgbClr val="02C39A"/>
                </a:solidFill>
                <a:latin typeface="Calibri" pitchFamily="34" charset="0"/>
                <a:ea typeface="Calibri" pitchFamily="34" charset="-122"/>
                <a:cs typeface="Calibri" pitchFamily="34" charset="-120"/>
              </a:rPr>
              <a:t>for reviewing my Healthcare Funding Analysis project</a:t>
            </a:r>
            <a:endParaRPr lang="en-US" sz="1600" dirty="0"/>
          </a:p>
        </p:txBody>
      </p:sp>
      <p:sp>
        <p:nvSpPr>
          <p:cNvPr id="6" name="Text 4"/>
          <p:cNvSpPr/>
          <p:nvPr/>
        </p:nvSpPr>
        <p:spPr>
          <a:xfrm>
            <a:off x="457200" y="2651760"/>
            <a:ext cx="6858000" cy="1097280"/>
          </a:xfrm>
          <a:prstGeom prst="rect">
            <a:avLst/>
          </a:prstGeom>
          <a:noFill/>
          <a:ln/>
        </p:spPr>
        <p:txBody>
          <a:bodyPr wrap="square" rtlCol="0" anchor="ctr"/>
          <a:lstStyle/>
          <a:p>
            <a:pPr marL="0" indent="0" algn="l">
              <a:buNone/>
            </a:pPr>
            <a:r>
              <a:rPr lang="en-US" sz="1100" dirty="0">
                <a:solidFill>
                  <a:srgbClr val="A0BDD0"/>
                </a:solidFill>
                <a:latin typeface="Calibri" pitchFamily="34" charset="0"/>
                <a:ea typeface="Calibri" pitchFamily="34" charset="-122"/>
                <a:cs typeface="Calibri" pitchFamily="34" charset="-120"/>
              </a:rPr>
              <a:t>This project gave me hands-on experience working with real government health data, building advanced Tableau visualizations, and drawing meaningful conclusions about how research funding relates to disease burden in the United States. I look forward to applying these skills in future analytics work.</a:t>
            </a:r>
            <a:endParaRPr lang="en-US" sz="1100" dirty="0"/>
          </a:p>
        </p:txBody>
      </p:sp>
      <p:sp>
        <p:nvSpPr>
          <p:cNvPr id="7" name="Shape 5"/>
          <p:cNvSpPr/>
          <p:nvPr/>
        </p:nvSpPr>
        <p:spPr>
          <a:xfrm>
            <a:off x="457200" y="3840480"/>
            <a:ext cx="1508760" cy="822960"/>
          </a:xfrm>
          <a:prstGeom prst="rect">
            <a:avLst/>
          </a:prstGeom>
          <a:solidFill>
            <a:srgbClr val="0D1B2A"/>
          </a:solidFill>
          <a:ln w="12700">
            <a:solidFill>
              <a:srgbClr val="1C7293"/>
            </a:solidFill>
            <a:prstDash val="solid"/>
          </a:ln>
        </p:spPr>
      </p:sp>
      <p:sp>
        <p:nvSpPr>
          <p:cNvPr id="8" name="Text 6"/>
          <p:cNvSpPr/>
          <p:nvPr/>
        </p:nvSpPr>
        <p:spPr>
          <a:xfrm>
            <a:off x="457200" y="3858768"/>
            <a:ext cx="1508760" cy="457200"/>
          </a:xfrm>
          <a:prstGeom prst="rect">
            <a:avLst/>
          </a:prstGeom>
          <a:noFill/>
          <a:ln/>
        </p:spPr>
        <p:txBody>
          <a:bodyPr wrap="square" rtlCol="0" anchor="ctr"/>
          <a:lstStyle/>
          <a:p>
            <a:pPr marL="0" indent="0" algn="ctr">
              <a:buNone/>
            </a:pPr>
            <a:r>
              <a:rPr lang="en-US" sz="2200" b="1" dirty="0">
                <a:solidFill>
                  <a:srgbClr val="02C39A"/>
                </a:solidFill>
                <a:latin typeface="Calibri" pitchFamily="34" charset="0"/>
                <a:ea typeface="Calibri" pitchFamily="34" charset="-122"/>
                <a:cs typeface="Calibri" pitchFamily="34" charset="-120"/>
              </a:rPr>
              <a:t>12</a:t>
            </a:r>
            <a:endParaRPr lang="en-US" sz="2200" dirty="0"/>
          </a:p>
        </p:txBody>
      </p:sp>
      <p:sp>
        <p:nvSpPr>
          <p:cNvPr id="9" name="Text 7"/>
          <p:cNvSpPr/>
          <p:nvPr/>
        </p:nvSpPr>
        <p:spPr>
          <a:xfrm>
            <a:off x="457200" y="4279392"/>
            <a:ext cx="1508760" cy="320040"/>
          </a:xfrm>
          <a:prstGeom prst="rect">
            <a:avLst/>
          </a:prstGeom>
          <a:noFill/>
          <a:ln/>
        </p:spPr>
        <p:txBody>
          <a:bodyPr wrap="square" rtlCol="0" anchor="ctr"/>
          <a:lstStyle/>
          <a:p>
            <a:pPr marL="0" indent="0" algn="ctr">
              <a:buNone/>
            </a:pPr>
            <a:r>
              <a:rPr lang="en-US" sz="800" dirty="0">
                <a:solidFill>
                  <a:srgbClr val="A0BDD0"/>
                </a:solidFill>
                <a:latin typeface="Calibri" pitchFamily="34" charset="0"/>
                <a:ea typeface="Calibri" pitchFamily="34" charset="-122"/>
                <a:cs typeface="Calibri" pitchFamily="34" charset="-120"/>
              </a:rPr>
              <a:t>Chart Types Created</a:t>
            </a:r>
            <a:endParaRPr lang="en-US" sz="800" dirty="0"/>
          </a:p>
        </p:txBody>
      </p:sp>
      <p:sp>
        <p:nvSpPr>
          <p:cNvPr id="10" name="Shape 8"/>
          <p:cNvSpPr/>
          <p:nvPr/>
        </p:nvSpPr>
        <p:spPr>
          <a:xfrm>
            <a:off x="2148840" y="3840480"/>
            <a:ext cx="1508760" cy="822960"/>
          </a:xfrm>
          <a:prstGeom prst="rect">
            <a:avLst/>
          </a:prstGeom>
          <a:solidFill>
            <a:srgbClr val="0D1B2A"/>
          </a:solidFill>
          <a:ln w="12700">
            <a:solidFill>
              <a:srgbClr val="1C7293"/>
            </a:solidFill>
            <a:prstDash val="solid"/>
          </a:ln>
        </p:spPr>
      </p:sp>
      <p:sp>
        <p:nvSpPr>
          <p:cNvPr id="11" name="Text 9"/>
          <p:cNvSpPr/>
          <p:nvPr/>
        </p:nvSpPr>
        <p:spPr>
          <a:xfrm>
            <a:off x="2148840" y="3858768"/>
            <a:ext cx="1508760" cy="457200"/>
          </a:xfrm>
          <a:prstGeom prst="rect">
            <a:avLst/>
          </a:prstGeom>
          <a:noFill/>
          <a:ln/>
        </p:spPr>
        <p:txBody>
          <a:bodyPr wrap="square" rtlCol="0" anchor="ctr"/>
          <a:lstStyle/>
          <a:p>
            <a:pPr marL="0" indent="0" algn="ctr">
              <a:buNone/>
            </a:pPr>
            <a:r>
              <a:rPr lang="en-US" sz="2200" b="1" dirty="0">
                <a:solidFill>
                  <a:srgbClr val="02C39A"/>
                </a:solidFill>
                <a:latin typeface="Calibri" pitchFamily="34" charset="0"/>
                <a:ea typeface="Calibri" pitchFamily="34" charset="-122"/>
                <a:cs typeface="Calibri" pitchFamily="34" charset="-120"/>
              </a:rPr>
              <a:t>315</a:t>
            </a:r>
            <a:endParaRPr lang="en-US" sz="2200" dirty="0"/>
          </a:p>
        </p:txBody>
      </p:sp>
      <p:sp>
        <p:nvSpPr>
          <p:cNvPr id="12" name="Text 10"/>
          <p:cNvSpPr/>
          <p:nvPr/>
        </p:nvSpPr>
        <p:spPr>
          <a:xfrm>
            <a:off x="2148840" y="4279392"/>
            <a:ext cx="1508760" cy="320040"/>
          </a:xfrm>
          <a:prstGeom prst="rect">
            <a:avLst/>
          </a:prstGeom>
          <a:noFill/>
          <a:ln/>
        </p:spPr>
        <p:txBody>
          <a:bodyPr wrap="square" rtlCol="0" anchor="ctr"/>
          <a:lstStyle/>
          <a:p>
            <a:pPr marL="0" indent="0" algn="ctr">
              <a:buNone/>
            </a:pPr>
            <a:r>
              <a:rPr lang="en-US" sz="800" dirty="0">
                <a:solidFill>
                  <a:srgbClr val="A0BDD0"/>
                </a:solidFill>
                <a:latin typeface="Calibri" pitchFamily="34" charset="0"/>
                <a:ea typeface="Calibri" pitchFamily="34" charset="-122"/>
                <a:cs typeface="Calibri" pitchFamily="34" charset="-120"/>
              </a:rPr>
              <a:t>Disease Areas Analyzed</a:t>
            </a:r>
            <a:endParaRPr lang="en-US" sz="800" dirty="0"/>
          </a:p>
        </p:txBody>
      </p:sp>
      <p:sp>
        <p:nvSpPr>
          <p:cNvPr id="13" name="Shape 11"/>
          <p:cNvSpPr/>
          <p:nvPr/>
        </p:nvSpPr>
        <p:spPr>
          <a:xfrm>
            <a:off x="3840480" y="3840480"/>
            <a:ext cx="1508760" cy="822960"/>
          </a:xfrm>
          <a:prstGeom prst="rect">
            <a:avLst/>
          </a:prstGeom>
          <a:solidFill>
            <a:srgbClr val="0D1B2A"/>
          </a:solidFill>
          <a:ln w="12700">
            <a:solidFill>
              <a:srgbClr val="1C7293"/>
            </a:solidFill>
            <a:prstDash val="solid"/>
          </a:ln>
        </p:spPr>
      </p:sp>
      <p:sp>
        <p:nvSpPr>
          <p:cNvPr id="14" name="Text 12"/>
          <p:cNvSpPr/>
          <p:nvPr/>
        </p:nvSpPr>
        <p:spPr>
          <a:xfrm>
            <a:off x="3840480" y="3858768"/>
            <a:ext cx="1508760" cy="457200"/>
          </a:xfrm>
          <a:prstGeom prst="rect">
            <a:avLst/>
          </a:prstGeom>
          <a:noFill/>
          <a:ln/>
        </p:spPr>
        <p:txBody>
          <a:bodyPr wrap="square" rtlCol="0" anchor="ctr"/>
          <a:lstStyle/>
          <a:p>
            <a:pPr marL="0" indent="0" algn="ctr">
              <a:buNone/>
            </a:pPr>
            <a:r>
              <a:rPr lang="en-US" sz="2200" b="1" dirty="0">
                <a:solidFill>
                  <a:srgbClr val="02C39A"/>
                </a:solidFill>
                <a:latin typeface="Calibri" pitchFamily="34" charset="0"/>
                <a:ea typeface="Calibri" pitchFamily="34" charset="-122"/>
                <a:cs typeface="Calibri" pitchFamily="34" charset="-120"/>
              </a:rPr>
              <a:t>17</a:t>
            </a:r>
            <a:endParaRPr lang="en-US" sz="2200" dirty="0"/>
          </a:p>
        </p:txBody>
      </p:sp>
      <p:sp>
        <p:nvSpPr>
          <p:cNvPr id="15" name="Text 13"/>
          <p:cNvSpPr/>
          <p:nvPr/>
        </p:nvSpPr>
        <p:spPr>
          <a:xfrm>
            <a:off x="3840480" y="4279392"/>
            <a:ext cx="1508760" cy="320040"/>
          </a:xfrm>
          <a:prstGeom prst="rect">
            <a:avLst/>
          </a:prstGeom>
          <a:noFill/>
          <a:ln/>
        </p:spPr>
        <p:txBody>
          <a:bodyPr wrap="square" rtlCol="0" anchor="ctr"/>
          <a:lstStyle/>
          <a:p>
            <a:pPr marL="0" indent="0" algn="ctr">
              <a:buNone/>
            </a:pPr>
            <a:r>
              <a:rPr lang="en-US" sz="800" dirty="0">
                <a:solidFill>
                  <a:srgbClr val="A0BDD0"/>
                </a:solidFill>
                <a:latin typeface="Calibri" pitchFamily="34" charset="0"/>
                <a:ea typeface="Calibri" pitchFamily="34" charset="-122"/>
                <a:cs typeface="Calibri" pitchFamily="34" charset="-120"/>
              </a:rPr>
              <a:t>Years of Funding Data</a:t>
            </a:r>
            <a:endParaRPr lang="en-US" sz="800" dirty="0"/>
          </a:p>
        </p:txBody>
      </p:sp>
      <p:sp>
        <p:nvSpPr>
          <p:cNvPr id="16" name="Shape 14"/>
          <p:cNvSpPr/>
          <p:nvPr/>
        </p:nvSpPr>
        <p:spPr>
          <a:xfrm>
            <a:off x="5532120" y="3840480"/>
            <a:ext cx="1508760" cy="822960"/>
          </a:xfrm>
          <a:prstGeom prst="rect">
            <a:avLst/>
          </a:prstGeom>
          <a:solidFill>
            <a:srgbClr val="0D1B2A"/>
          </a:solidFill>
          <a:ln w="12700">
            <a:solidFill>
              <a:srgbClr val="1C7293"/>
            </a:solidFill>
            <a:prstDash val="solid"/>
          </a:ln>
        </p:spPr>
      </p:sp>
      <p:sp>
        <p:nvSpPr>
          <p:cNvPr id="17" name="Text 15"/>
          <p:cNvSpPr/>
          <p:nvPr/>
        </p:nvSpPr>
        <p:spPr>
          <a:xfrm>
            <a:off x="5532120" y="3858768"/>
            <a:ext cx="1508760" cy="457200"/>
          </a:xfrm>
          <a:prstGeom prst="rect">
            <a:avLst/>
          </a:prstGeom>
          <a:noFill/>
          <a:ln/>
        </p:spPr>
        <p:txBody>
          <a:bodyPr wrap="square" rtlCol="0" anchor="ctr"/>
          <a:lstStyle/>
          <a:p>
            <a:pPr marL="0" indent="0" algn="ctr">
              <a:buNone/>
            </a:pPr>
            <a:r>
              <a:rPr lang="en-US" sz="2200" b="1" dirty="0">
                <a:solidFill>
                  <a:srgbClr val="02C39A"/>
                </a:solidFill>
                <a:latin typeface="Calibri" pitchFamily="34" charset="0"/>
                <a:ea typeface="Calibri" pitchFamily="34" charset="-122"/>
                <a:cs typeface="Calibri" pitchFamily="34" charset="-120"/>
              </a:rPr>
              <a:t>8</a:t>
            </a:r>
            <a:endParaRPr lang="en-US" sz="2200" dirty="0"/>
          </a:p>
        </p:txBody>
      </p:sp>
      <p:sp>
        <p:nvSpPr>
          <p:cNvPr id="18" name="Text 16"/>
          <p:cNvSpPr/>
          <p:nvPr/>
        </p:nvSpPr>
        <p:spPr>
          <a:xfrm>
            <a:off x="5532120" y="4279392"/>
            <a:ext cx="1508760" cy="320040"/>
          </a:xfrm>
          <a:prstGeom prst="rect">
            <a:avLst/>
          </a:prstGeom>
          <a:noFill/>
          <a:ln/>
        </p:spPr>
        <p:txBody>
          <a:bodyPr wrap="square" rtlCol="0" anchor="ctr"/>
          <a:lstStyle/>
          <a:p>
            <a:pPr marL="0" indent="0" algn="ctr">
              <a:buNone/>
            </a:pPr>
            <a:r>
              <a:rPr lang="en-US" sz="800" dirty="0">
                <a:solidFill>
                  <a:srgbClr val="A0BDD0"/>
                </a:solidFill>
                <a:latin typeface="Calibri" pitchFamily="34" charset="0"/>
                <a:ea typeface="Calibri" pitchFamily="34" charset="-122"/>
                <a:cs typeface="Calibri" pitchFamily="34" charset="-120"/>
              </a:rPr>
              <a:t>Key Objectives Met</a:t>
            </a:r>
            <a:endParaRPr lang="en-US" sz="800" dirty="0"/>
          </a:p>
        </p:txBody>
      </p:sp>
      <p:sp>
        <p:nvSpPr>
          <p:cNvPr id="19" name="Text 17"/>
          <p:cNvSpPr/>
          <p:nvPr/>
        </p:nvSpPr>
        <p:spPr>
          <a:xfrm>
            <a:off x="457200" y="4754880"/>
            <a:ext cx="8229600" cy="274320"/>
          </a:xfrm>
          <a:prstGeom prst="rect">
            <a:avLst/>
          </a:prstGeom>
          <a:noFill/>
          <a:ln/>
        </p:spPr>
        <p:txBody>
          <a:bodyPr wrap="square" rtlCol="0" anchor="ctr"/>
          <a:lstStyle/>
          <a:p>
            <a:pPr marL="0" indent="0">
              <a:buNone/>
            </a:pPr>
            <a:r>
              <a:rPr lang="en-US" sz="900" dirty="0">
                <a:solidFill>
                  <a:srgbClr val="4A6880"/>
                </a:solidFill>
                <a:latin typeface="Calibri" pitchFamily="34" charset="0"/>
                <a:ea typeface="Calibri" pitchFamily="34" charset="-122"/>
                <a:cs typeface="Calibri" pitchFamily="34" charset="-120"/>
              </a:rPr>
              <a:t>Healthcare Analytics Project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1467</Words>
  <Application>Microsoft Office PowerPoint</Application>
  <PresentationFormat>On-screen Show (16:9)</PresentationFormat>
  <Paragraphs>225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Research Funding Analysis</dc:title>
  <dc:subject>PptxGenJS Presentation</dc:subject>
  <dc:creator>Student</dc:creator>
  <cp:lastModifiedBy>Abir Acharya</cp:lastModifiedBy>
  <cp:revision>2</cp:revision>
  <dcterms:created xsi:type="dcterms:W3CDTF">2026-03-19T12:20:06Z</dcterms:created>
  <dcterms:modified xsi:type="dcterms:W3CDTF">2026-03-19T12:22:18Z</dcterms:modified>
</cp:coreProperties>
</file>